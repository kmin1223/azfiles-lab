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Frame the promise: by the end they diagnose from evidence, not from error strings. Two sessions; today is on-prem AD 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EVERYONE running the deploy in the first 5 minutes. Cloud Shell removes the usual friction (signed in, modules present, no execution policy). Multiple subscriptions -&gt; Set-AzContext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Structure note: foundations while the deploy runs, then each lab gets its own concept slide immediately before it. Say that out loud so nobody wonders why RC4 comes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four-stage exchange. Assume they know Kerberos - focus on WHERE Azure Files sits and that each stage has its own failure signature. Name-check event 4769; it returns repeatedly.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1 (~2.5 min). Five steps of a domain join. Mantra: AD account + password=kerb key + SPN. To the DC this is just another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2 (~2.5 min). TGT at logon, service ticket at mount. The klist panel pre-answers the 'why so many tickets?' question from Lab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3 (~2.5 min) - the payoff. TGT locked with krbtgt key, service ticket with the storage kerb key; Azure Files tries kerb1 then kerb2. Both fail = 1396. Flag the salt bullet: it is baked in at key-generation time. Lab 2 turns on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SOURCES (~2 min). Each source answers something the others cannot. 4769 is the one most people never open - it shows the SPN as requested, the etype, and the failure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CODE MAP (~2 min). Read two or three rows. Note the last row now says authorization OR cipher mismatch - Lab 3 is that second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Identity sources - 30 seconds. One storage account = one identity source; Session 2 flips this same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 of sight: DNS 53, Kerberos 88, LDAP 389, SMB 445. Domain JOIN also needs RPC. Non-joined machines CAN mount with explicit creds.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what the automation built - map steps 5-6 back to mechanism 1. Poll for the green DEPLOYMENT COMPLETE box; it should be landing about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collector is preinstalled on both VMs. Stress the habit: capture a WORKING mount first so every later capture is a diff.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1 (~8 min). The legacy baseline. Point at RC4-HMAC in klist: 'this is what you inherited.' Have them run the collector on this working 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for Lab 2. Enforcement is live now. Note the FIRST checklist item: DomainName must be the DNS root - that is the one that bites.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study (~2.5 min). Walk the timeline. The line that matters: 'it works on RC4' is not evidence the config is correct. Then reveal their lab is in exactly this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2 - the centrepiece (~12 min). Enforce -&gt; 1396. Diagnosis: AES ticket IS issued, 4769 success, so the KDC is fine; the service cannot decrypt. Status reveals DomainName = NetBIOS. Repair fixes the property AND regenerates the key - hammer the order. Everyone must run 'net use * /delete /y' before retesting.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for Lab 3 (~2 min). Cipher is negotiated in SMB Negotiate, before the account is even named, so it cannot be per-account. Set up the twist: the failure will look like a credential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3 (~6 min). Access denied with a perfect ticket. Real case: days lost auditing permissions; the cause was one cipher checkbox. Have them compare client cipher order against the account's SMB security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for the remaining labs: three doors. Most 'Kerberos is broken' tickets are doors 2-3.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Effective access = MIN(share role, NTFS). Also covers the two ways to grant share level - the lab uses DefaultSharePermission.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4 (~5 min) if time: blocked 445 shows error 53/67 (64 = proxy/NAT drop). NoShareAccess: 4769 succeeds, TreeConnect denies -&gt; authorization.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Optional/self-study: PasswordMismatch - same 1396 symptom as Lab 2 but a plain key drift. Good contrast if you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Optional/self-study: SpnBroken - no ticket at all this time; setspn is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Triage table = the takeaway. Point at the printed flowchart.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Tear down NOW (idle VMs cost money). Session 2 prereqs: redeploy beforehand + Global Admin on a DEV tenant (app management policy!).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References for Q&amp;A. Remind them every fault script is theirs to re-run; the advanced ones (ClockSkew, DuplicateSpn, EtypeMismatch) are in the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338560" y="5120640"/>
            <a:ext cx="2926080" cy="292608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4754880"/>
            <a:ext cx="3108960" cy="310896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F2C14E"/>
                </a:solidFill>
                <a:latin typeface="Calibri"/>
              </a:rPr>
              <a:t>AZURE FILES · IDENTITY-BASED AUTHENTICATION · SESSION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On-Premises AD DS Authentication,
Hands-On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CADCFC"/>
                </a:solidFill>
                <a:latin typeface="Calibri"/>
              </a:rPr>
              <a:t>Deploy it, break it, fix it — the failures you'll actually meet in production.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60 minutes · bring your own Azure subscription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0:00 – DO THIS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First things first: start your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02440"/>
                </a:solidFill>
                <a:latin typeface="Calibri"/>
              </a:rPr>
              <a:t>In Azure Cloud Shell (PowerShell) — portal.azure.com → </a:t>
            </a:r>
            <a:r>
              <a:rPr sz="1400" b="1" i="0">
                <a:solidFill>
                  <a:srgbClr val="202440"/>
                </a:solidFill>
                <a:latin typeface="Courier New"/>
              </a:rPr>
              <a:t>&gt;_</a:t>
            </a:r>
            <a:r>
              <a:rPr sz="1400" b="0" i="0">
                <a:solidFill>
                  <a:srgbClr val="202440"/>
                </a:solidFill>
                <a:latin typeface="Calibri"/>
              </a:rPr>
              <a:t> icon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6766560" cy="16002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PS&gt; </a:t>
            </a:r>
            <a:r>
              <a:rPr sz="1300" b="0">
                <a:solidFill>
                  <a:srgbClr val="D8E4FF"/>
                </a:solidFill>
                <a:latin typeface="Courier New"/>
              </a:rPr>
              <a:t>git clone https://github.com/kmin1223/azfiles-lab.git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PS&gt; </a:t>
            </a:r>
            <a:r>
              <a:rPr sz="1300" b="0">
                <a:solidFill>
                  <a:srgbClr val="D8E4FF"/>
                </a:solidFill>
                <a:latin typeface="Courier New"/>
              </a:rPr>
              <a:t>cd azfiles-lab/session1-adds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PS&gt; </a:t>
            </a:r>
            <a:r>
              <a:rPr sz="1300" b="0">
                <a:solidFill>
                  <a:srgbClr val="D8E4FF"/>
                </a:solidFill>
                <a:latin typeface="Courier New"/>
              </a:rPr>
              <a:t>./deploy.ps1 -ResourceGroupName azfiles-lab `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        -Location koreacentral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67665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One command, zero setup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>Cloud Shell is already signed in and has the Az modules — nothing to install. The script builds a complete simulated on-prem environment in your subscription in ~30 minutes. We'll cover the concepts while it cooks, then break it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371600"/>
            <a:ext cx="3977639" cy="47091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6002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What gets deployed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057400"/>
            <a:ext cx="3474720" cy="3840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DC VM</a:t>
            </a:r>
            <a:r>
              <a:rPr sz="1350">
                <a:solidFill>
                  <a:srgbClr val="202440"/>
                </a:solidFill>
                <a:latin typeface="Calibri"/>
              </a:rPr>
              <a:t> — new AD forest contoso.local (your "on-prem")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Client VM</a:t>
            </a:r>
            <a:r>
              <a:rPr sz="1350">
                <a:solidFill>
                  <a:srgbClr val="202440"/>
                </a:solidFill>
                <a:latin typeface="Calibri"/>
              </a:rPr>
              <a:t> — domain-joined Windows Server 2022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Storage account + share</a:t>
            </a:r>
            <a:r>
              <a:rPr sz="1350">
                <a:solidFill>
                  <a:srgbClr val="202440"/>
                </a:solidFill>
                <a:latin typeface="Calibri"/>
              </a:rPr>
              <a:t> — domain-joined via computer account + SPN + kerb key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Lab users</a:t>
            </a:r>
            <a:r>
              <a:rPr sz="1350">
                <a:solidFill>
                  <a:srgbClr val="202440"/>
                </a:solidFill>
                <a:latin typeface="Calibri"/>
              </a:rPr>
              <a:t> — labuser1 / labuser2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Permissions</a:t>
            </a:r>
            <a:r>
              <a:rPr sz="1350">
                <a:solidFill>
                  <a:srgbClr val="202440"/>
                </a:solidFill>
                <a:latin typeface="Calibri"/>
              </a:rPr>
              <a:t> — default share-level + NTFS ACLs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Prereqs: Owner on the subscription · quota for 2× B2ms · an RDP client for the labs (running locally instead? use .\deploy.ps1 after Connect-AzAccount)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The next 60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81328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585216" cy="585216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591056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Kick off the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91056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one command, then hands 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2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578608"/>
            <a:ext cx="585216" cy="585216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60320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Foundations while it deploys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the join · tickets · encryption · where the evidence lives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19856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547872"/>
            <a:ext cx="585216" cy="585216"/>
          </a:xfrm>
          <a:prstGeom prst="ellipse">
            <a:avLst/>
          </a:prstGeom>
          <a:solidFill>
            <a:srgbClr val="3DA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529584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Lab 1 — the legacy environment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529584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it mounts fine today: RC4, 2023 vintage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517136"/>
            <a:ext cx="585216" cy="585216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498848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Lab 2 — the AES-256 migration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498848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the mandate, the latent defect, the correct fix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58384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5486400"/>
            <a:ext cx="585216" cy="585216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468112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Lab 3 — access denied, perfect ticket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468112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when the error blames the wrong thing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327648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6455664"/>
            <a:ext cx="585216" cy="585216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6437376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6437376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triage table + Session 2 teaser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 · THE EXCHANGE YOU'LL BE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One mount, on the wire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AS-REQ / REP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client ↔ KDC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572768"/>
            <a:ext cx="7680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Pre-auth with the user's key; returns the TGT + session key. Failures here are logon-level (event 4768).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33472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61488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TGS-REQ / REP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client ↔ KDC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743200"/>
            <a:ext cx="7680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Client names the SPN cifs/&lt;sa&gt;…. KDC returns a ticket encrypted with the SERVICE's key. Event 4769 records this — including the etype and any failure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Negotiate / SessionSetup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client ↔ Azure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913632"/>
            <a:ext cx="7680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SMB2 negotiate (dialect + cipher), then SPNEGO carries the AP-REQ. This is where a valid ticket can still fail — the service must decrypt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74336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02352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Tree Connect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client ↔ Azure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5084064"/>
            <a:ext cx="7680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Only now is the share named; share-level authorization is evaluated here, so an authz failure looks different from an auth failure.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Four places to fail, four different signatures. Today's job is telling them apart from evidence — not from the error string.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MECHANISM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What "domain joining a storage account" actually does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426464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Generate kerb keys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7406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Azure creates two Kerberos keys on the storage account — kerb1 and kerb2. These are the service's long-term secret.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22576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267712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Create an AD account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267712"/>
            <a:ext cx="7406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An object representing the storage account is created in your AD — a computer object (or a service-logon user object; both are supported).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218688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163824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Password = kerb 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163824"/>
            <a:ext cx="7406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That AD account's password is set to the kerb1 key. Now AD and Azure Files share one secret.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14799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59935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Register the SPN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059935"/>
            <a:ext cx="7406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cifs/&lt;sa&gt;.file.core.windows.net is registered on the account — the name the KDC looks up to find this service.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010912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956048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Tell the storage account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956048"/>
            <a:ext cx="7406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Set-AzStorageAccount writes the domain metadata (domain name/GUID/SID, SamAccountName) so Azure Files knows which AD identity it 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897880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To the DC, your storage account is just another domain server: </a:t>
            </a:r>
            <a:r>
              <a:rPr sz="1450" b="0" i="0">
                <a:solidFill>
                  <a:srgbClr val="202440"/>
                </a:solidFill>
                <a:latin typeface="Calibri"/>
              </a:rPr>
              <a:t>an account with a password and an SPN. Nothing Azure-specific.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MECHANISM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Where tickets come from — and where they live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760720" cy="20574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At sign-in → you get a TGT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202440"/>
                </a:solidFill>
                <a:latin typeface="Calibri"/>
              </a:rPr>
              <a:t>AS-REQ/REP with the DC. The </a:t>
            </a:r>
            <a:r>
              <a:rPr sz="1350" b="1" i="0">
                <a:solidFill>
                  <a:srgbClr val="202440"/>
                </a:solidFill>
                <a:latin typeface="Calibri"/>
              </a:rPr>
              <a:t>TGT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 is your proof of identity for the rest of the session — it is NOT tied to any one service. Windows stores it in the LSA ticket cache.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11880"/>
            <a:ext cx="5760720" cy="214884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At mount → you get a service 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06240"/>
            <a:ext cx="5212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202440"/>
                </a:solidFill>
                <a:latin typeface="Calibri"/>
              </a:rPr>
              <a:t>TGS-REQ/REP: the client presents the TGT and asks for </a:t>
            </a:r>
            <a:r>
              <a:rPr sz="1250" b="0" i="0">
                <a:solidFill>
                  <a:srgbClr val="202440"/>
                </a:solidFill>
                <a:latin typeface="Courier New"/>
              </a:rPr>
              <a:t>cifs/&lt;sa&gt;…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. The returned </a:t>
            </a:r>
            <a:r>
              <a:rPr sz="1350" b="1" i="0">
                <a:solidFill>
                  <a:srgbClr val="202440"/>
                </a:solidFill>
                <a:latin typeface="Calibri"/>
              </a:rPr>
              <a:t>service ticket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 is cached too — one per service you touch.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That's why klist looks busy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874519"/>
            <a:ext cx="5029200" cy="260604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klist   # right after logon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#0  krbtgt/CONTOSO.LOCAL      &lt;- the TGT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#1  LDAP/dc.contoso.local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#2  cifs/dc.contoso.local     &lt;- GPO read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klist   # after mounting the share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DA56E"/>
                </a:solidFill>
                <a:latin typeface="Courier New"/>
              </a:rPr>
              <a:t>#3  cifs/&lt;sa&gt;.file.core.windows.net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DA56E"/>
                </a:solidFill>
                <a:latin typeface="Courier New"/>
              </a:rPr>
              <a:t>    KerbTicket Encryption Type: AES-256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617720"/>
            <a:ext cx="5029200" cy="14630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Lifetime:</a:t>
            </a:r>
            <a:r>
              <a:rPr sz="1300">
                <a:solidFill>
                  <a:srgbClr val="202440"/>
                </a:solidFill>
                <a:latin typeface="Calibri"/>
              </a:rPr>
              <a:t> ~10 h, renewable ~7 days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klist purge</a:t>
            </a:r>
            <a:r>
              <a:rPr sz="1300">
                <a:solidFill>
                  <a:srgbClr val="202440"/>
                </a:solidFill>
                <a:latin typeface="Calibri"/>
              </a:rPr>
              <a:t> empties the cache — the next access just gets fresh 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Tickets are per-user and per-session, held in memory by LSA — never written to disk. A reboot or sign-out clears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MECHANISM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Who can open what — and why 1396 happens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0" i="0">
                <a:solidFill>
                  <a:srgbClr val="202440"/>
                </a:solidFill>
                <a:latin typeface="Calibri"/>
              </a:rPr>
              <a:t>Kerberos is symmetric-key: a ticket is locked with the key of the party it is meant for.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74519"/>
          <a:ext cx="11064240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65760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Ticket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Locked with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Who can open it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02440"/>
                          </a:solidFill>
                          <a:latin typeface="Calibri"/>
                        </a:rPr>
                        <a:t>TGT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krbtgt</a:t>
                      </a:r>
                      <a:r>
                        <a:rPr sz="1350" b="0">
                          <a:solidFill>
                            <a:srgbClr val="202440"/>
                          </a:solidFill>
                          <a:latin typeface="Calibri"/>
                        </a:rPr>
                        <a:t> account key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02440"/>
                          </a:solidFill>
                          <a:latin typeface="Calibri"/>
                        </a:rPr>
                        <a:t>Only the KDC. The client just carries it — it can't read inside.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02440"/>
                          </a:solidFill>
                          <a:latin typeface="Calibri"/>
                        </a:rPr>
                        <a:t>Service ticket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02440"/>
                          </a:solidFill>
                          <a:latin typeface="Calibri"/>
                        </a:rPr>
                        <a:t>the storage account's kerb key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02440"/>
                          </a:solidFill>
                          <a:latin typeface="Calibri"/>
                        </a:rPr>
                        <a:t>Only Azure Files — using kerb1, then kerb2 if that fails.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977639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If neither kerb key opens the ticket → </a:t>
            </a:r>
            <a:r>
              <a:rPr sz="1500" b="0" i="0">
                <a:solidFill>
                  <a:srgbClr val="202440"/>
                </a:solidFill>
                <a:latin typeface="Calibri"/>
              </a:rPr>
              <a:t>the AD account password and the storage kerb keys have drifted apart. The KDC did its job (you HAVE a valid ticket), but the service can't decrypt it. That is KRB5KRB_AP_ERR_MODIFIED — </a:t>
            </a:r>
            <a:r>
              <a:rPr sz="1500" b="1" i="0">
                <a:solidFill>
                  <a:srgbClr val="F96167"/>
                </a:solidFill>
                <a:latin typeface="Calibri"/>
              </a:rPr>
              <a:t>System error 1396</a:t>
            </a:r>
            <a:r>
              <a:rPr sz="1500" b="0" i="0">
                <a:solidFill>
                  <a:srgbClr val="202440"/>
                </a:solidFill>
                <a:latin typeface="Calibri"/>
              </a:rPr>
              <a:t>. We'll cause exactly this in Lab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11064240" cy="10058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AES-256 keys are SALTED</a:t>
            </a:r>
            <a:r>
              <a:rPr sz="1250">
                <a:solidFill>
                  <a:srgbClr val="202440"/>
                </a:solidFill>
                <a:latin typeface="Calibri"/>
              </a:rPr>
              <a:t> — the salt is built from DomainName + SamAccountName + AccountType, and it is baked in when the key is generated, not at authentication time. RC4 uses no salt at all.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Consequence:</a:t>
            </a:r>
            <a:r>
              <a:rPr sz="1250">
                <a:solidFill>
                  <a:srgbClr val="202440"/>
                </a:solidFill>
                <a:latin typeface="Calibri"/>
              </a:rPr>
              <a:t> changing those properties later does nothing until you regenerate the key. Remember this — Lab 2 turns on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EVIDENCE, NOT ERROR STRINGS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Where the truth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5943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only it can tell you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02440"/>
                          </a:solidFill>
                          <a:latin typeface="Courier New"/>
                        </a:rPr>
                        <a:t>klist / klist -li 0x3e7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Client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Which tickets exist, their SPN, etype and lifetime (0x3e7 = the SYSTEM session)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02440"/>
                          </a:solidFill>
                          <a:latin typeface="Calibri"/>
                        </a:rPr>
                        <a:t>Event 4769</a:t>
                      </a:r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 (+4768)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DC security log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Every service-ticket request: account, SPN, ticket etype, and the failure code if the KDC refused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Kerberos/Operational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Client event log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Client-side KDC errors and which DC was used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SMBClient Operational + Connectivity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Client event log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Whether SMB even got to session setup, and NTLM fallback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02440"/>
                          </a:solidFill>
                          <a:latin typeface="Courier New"/>
                        </a:rPr>
                        <a:t>netsh trace</a:t>
                      </a:r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 → etl2pcapng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Client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The actual KRB-ERROR code, the etype offered vs returned, the SMB dialect and cipher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39496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Both lab VMs already have the collector: </a:t>
            </a:r>
            <a:r>
              <a:rPr sz="1250" b="0" i="0">
                <a:solidFill>
                  <a:srgbClr val="202440"/>
                </a:solidFill>
                <a:latin typeface="Courier New"/>
              </a:rPr>
              <a:t>C:\LabTools\Get-KerberosEvidence.ps1 -StorageAccount &lt;sa&gt;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  — purges tickets, traces the whole mount, converts to pcapng, and pulls both event logs.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KRB-ERROR → WHICH STAGE BROKE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Reading a failed exchange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011680"/>
                <a:gridCol w="51206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On the wire / in 4769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What it means here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KDC_ERR_S_PRINCIPAL_UNKNOWN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TGS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No AD object owns cifs/&lt;sa&gt;… — SPN missing, wrong, or on a deleted object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KDC_ERR_ETYPE_NOSUPP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TGS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No common encryption type between client policy, the account, and the KDC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KRB_AP_ERR_MODIFIED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AP (SessionSetup)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Ticket issued fine, service can't decrypt it — kerb key ≠ AD password (error 1396)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KRB_AP_ERR_SKEW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Clock difference beyond ~5 min — the error surfaces as a vague mount failure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No 4769 at all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before TGS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The client never asked — cached ticket, wrong SPN string, or it never reached the DC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4769 success, then STATUS_ACCESS_DENIED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TreeConnect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Authentication worked; this is share-level authorization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Wireshark filter to start with: kerberos || smb2 — the KRB-ERROR frame carries the code above, and 4769 gives you the same answer without a capture.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Three identity sources — today we use the first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6424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108960"/>
                <a:gridCol w="2651760"/>
                <a:gridCol w="28346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On-prem AD DS  (today)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Entra Domain Services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Entra Kerberos  (session 2)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Who issues tickets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Your domain controller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Managed domain DCs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Microsoft Entra 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Client must be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AD joined (or line of sight + creds)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Entra DS joined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Entra / hybrid joined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Line of sight to a DC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Required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Required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Not required for access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Typical scenario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Lift-and-shift file servers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No on-prem 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AVD / remote work, no VPN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One storage account = one identity source. Session 2 switches this same account from AD DS to Entra Kerberos.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"Line of sight" — what it actually means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554480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DNS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463040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The client must RESOLVE the AD domain — its DNS must point at (or forward to) a DC. In our lab the VNet's DNS server is the DC itself.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70048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78608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DC locator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578608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Windows finds a DC via DNS SRV records (_ldap._tcp.dc._msdcs.&lt;domain&gt;) — nltest /dsgetdc:&lt;domain&gt; shows the result.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85615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94176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The 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3694176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DNS 53 · Kerberos 88 · LDAP 389 · SMB 445 must be reachable (VPN/ExpressRoute for remote clients). Domain JOIN and GPO additionally need RPC 135 + dynamic ports.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01183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09744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No domain join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4809744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A non-joined machine CAN mount with explicit AD credentials — as long as steps 1–3 work. Domain join is about the machine, line of sight is about the network.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Multi-forest bonus: the share joins ONE domain in ONE forest — other forests need a trust + name-suffix routing (or an SPN alias + CNAME)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THE AUTOMATION,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Meanwhile, in your subscription…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13232" y="170078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170992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ARM template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VNet (DNS → DC) · DC VM · client VM · storage + share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07992" y="170078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170992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Forest promotion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contoso.local born on the DC (this is the slow part)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5544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70078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170992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Lab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labuser1 / labuser2 in OU=AzureFilesLab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632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20954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21868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Client domain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client VM restarts as a CONTOSO member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0632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07992" y="320954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3208" y="321868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Storage domain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7033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kerb1 key → computer account password + SPN registration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0632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02752" y="320954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321868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Enable AD DS auth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7033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Set-AzStorageAccount writes domain GUID/SID metadata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720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71830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8448" y="472744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Permissions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21208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DefaultSharePermission + NTFS ACLs for Domain Users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Steps 5–6 are exactly the "manual enablement" path from the docs — worth knowing when AzFilesHybrid can't run in your environment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ONE COMMAND PER FAILED ATTEMPT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Collecting the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943600" cy="22860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2C14E"/>
                </a:solidFill>
                <a:latin typeface="Courier New"/>
              </a:rPr>
              <a:t># on the CLIENT VM, elevated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C:\LabTools\Get-KerberosEvidence.ps1 `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    -StorageAccount &lt;sa&gt;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2C14E"/>
                </a:solidFill>
                <a:latin typeface="Courier New"/>
              </a:rPr>
              <a:t># it produces, per attempt: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  trace.etl / trace.pcapng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  klist-before.txt / klist-after.txt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  kerberos-log.txt / smbclient-log.txt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On the DC — the KDC's own record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97680"/>
            <a:ext cx="5943600" cy="16002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Get-WinEvent -FilterHashtable @{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LogName='Security'; Id=4769 } -Max 5 |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Format-List TimeCreated,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4173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Then read it like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874519"/>
            <a:ext cx="4846320" cy="4023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Wireshark:</a:t>
            </a:r>
            <a:r>
              <a:rPr sz="1300">
                <a:solidFill>
                  <a:srgbClr val="202440"/>
                </a:solidFill>
                <a:latin typeface="Calibri"/>
              </a:rPr>
              <a:t> filter kerberos || smb2 — find the KRB-ERROR frame and read its code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4769 fields that matter:</a:t>
            </a:r>
            <a:r>
              <a:rPr sz="1300">
                <a:solidFill>
                  <a:srgbClr val="202440"/>
                </a:solidFill>
                <a:latin typeface="Calibri"/>
              </a:rPr>
              <a:t> Service Name (the SPN as requested), Ticket Encryption Type, Failure Code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Compare good vs bad:</a:t>
            </a:r>
            <a:r>
              <a:rPr sz="1300">
                <a:solidFill>
                  <a:srgbClr val="202440"/>
                </a:solidFill>
                <a:latin typeface="Calibri"/>
              </a:rPr>
              <a:t> capture a working mount first, then diff the two — fastest way to spot the changed field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No 4769?</a:t>
            </a:r>
            <a:r>
              <a:rPr sz="1300">
                <a:solidFill>
                  <a:srgbClr val="202440"/>
                </a:solidFill>
                <a:latin typeface="Calibri"/>
              </a:rPr>
              <a:t> the client never asked the DC — check the ticket cache and the SPN string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This is the habit that separates guessing from diagnosing: reproduce once, capture everything, then read the protocol.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Mount the share, meet your tickets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>RDP to the client VM as </a:t>
            </a:r>
            <a:r>
              <a:rPr sz="1400" b="1" i="0">
                <a:solidFill>
                  <a:srgbClr val="202440"/>
                </a:solidFill>
                <a:latin typeface="Courier New"/>
              </a:rPr>
              <a:t>CONTOSO\labuser1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6035040" cy="283464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1. clean slate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klist purge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2. ask the TGS for a service ticket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klist get cifs/&lt;sa&gt;.file.core.windows.net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3. mount — no credentials prompted!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net use Z: \\&lt;sa&gt;.file.core.windows.net\labshare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4. inspect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klist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echo hello &gt; Z:\%username%.txt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463040"/>
            <a:ext cx="4709160" cy="45720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What to notice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148840"/>
            <a:ext cx="4206240" cy="374903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Server:</a:t>
            </a:r>
            <a:r>
              <a:rPr sz="1300">
                <a:solidFill>
                  <a:srgbClr val="202440"/>
                </a:solidFill>
                <a:latin typeface="Calibri"/>
              </a:rPr>
              <a:t> cifs/&lt;sa&gt;.file.core.windows.net — the SPN we registered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KerbTicket etype:</a:t>
            </a:r>
            <a:r>
              <a:rPr sz="1300">
                <a:solidFill>
                  <a:srgbClr val="202440"/>
                </a:solidFill>
                <a:latin typeface="Calibri"/>
              </a:rPr>
              <a:t> RSADSI RC4-HMAC(NT) — this is a 2023-vintage environment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No password prompt:</a:t>
            </a:r>
            <a:r>
              <a:rPr sz="1300">
                <a:solidFill>
                  <a:srgbClr val="202440"/>
                </a:solidFill>
                <a:latin typeface="Calibri"/>
              </a:rPr>
              <a:t> your logon TGT did all the work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Capture the baseline:</a:t>
            </a:r>
            <a:r>
              <a:rPr sz="1300">
                <a:solidFill>
                  <a:srgbClr val="202440"/>
                </a:solidFill>
                <a:latin typeface="Calibri"/>
              </a:rPr>
              <a:t> Get-KerberosEvidence.ps1 — a working RC4 mount, on the wire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Healthy on RC4 — and the storage account's DomainName is wrong the whole time. Nothing here reveals it. That's the point.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 · 2026 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Happening right now: the RC4 retirement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1600200"/>
          </a:xfrm>
          <a:prstGeom prst="roundRect">
            <a:avLst>
              <a:gd name="adj" fmla="val 8000"/>
            </a:avLst>
          </a:prstGeom>
          <a:solidFill>
            <a:srgbClr val="FD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10424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Windows hardening has been phasing out RC4-HMAC since April 2026, and the July 2026 servicing wave flipped AD DS defaults to AES-256 — enforcement is live now. </a:t>
            </a:r>
            <a:r>
              <a:rPr sz="1500" b="0" i="0">
                <a:solidFill>
                  <a:srgbClr val="202440"/>
                </a:solidFill>
                <a:latin typeface="Calibri"/>
              </a:rPr>
              <a:t>Storage accounts domain-joined before 2023 — or joined manually with RC4 — are failing mounts as patched clients and DCs refuse RC4 tickets.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Am I affected? (AD DS auth only)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03320"/>
            <a:ext cx="5394960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Check the salt inputs FIRST:</a:t>
            </a:r>
            <a:r>
              <a:rPr sz="1250">
                <a:solidFill>
                  <a:srgbClr val="202440"/>
                </a:solidFill>
                <a:latin typeface="Calibri"/>
              </a:rPr>
              <a:t> ActiveDirectoryDomainName must be the DNS root (contoso.local), NOT the NetBIOS name — plus SamAccountName and AccountType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Check the AD object:</a:t>
            </a:r>
            <a:r>
              <a:rPr sz="1250">
                <a:solidFill>
                  <a:srgbClr val="202440"/>
                </a:solidFill>
                <a:latin typeface="Calibri"/>
              </a:rPr>
              <a:t> Get-ADComputer &lt;sa&gt; -Properties msDS-SupportedEncryptionTypes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Check the ticket:</a:t>
            </a:r>
            <a:r>
              <a:rPr sz="1250">
                <a:solidFill>
                  <a:srgbClr val="202440"/>
                </a:solidFill>
                <a:latin typeface="Calibri"/>
              </a:rPr>
              <a:t> klist → the cifs ticket's etype after a mount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91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Migrate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703320"/>
            <a:ext cx="5303520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AzFilesHybrid:</a:t>
            </a:r>
            <a:r>
              <a:rPr sz="1300">
                <a:solidFill>
                  <a:srgbClr val="202440"/>
                </a:solidFill>
                <a:latin typeface="Calibri"/>
              </a:rPr>
              <a:t> Update-AzStorageAccountAuthForAES256 does the whole dance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Manually:</a:t>
            </a:r>
            <a:r>
              <a:rPr sz="1300">
                <a:solidFill>
                  <a:srgbClr val="202440"/>
                </a:solidFill>
                <a:latin typeface="Calibri"/>
              </a:rPr>
              <a:t> set AES256 on the account, register SamAccountName, THEN rotate the kerb key — order matters (AES keys derive from the password at set time)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Our lab</a:t>
            </a:r>
            <a:r>
              <a:rPr sz="1300">
                <a:solidFill>
                  <a:srgbClr val="202440"/>
                </a:solidFill>
                <a:latin typeface="Calibri"/>
              </a:rPr>
              <a:t> deploys AES-256 from the start — you'll see it in klist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Entra Kerberos / Entra DS accounts are not affected — this hardening only bites the on-prem AD DS path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REAL SEV A · AND YOUR LAB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A defect that waited three years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1527048"/>
            <a:ext cx="256032" cy="256032"/>
          </a:xfrm>
          <a:prstGeom prst="ellipse">
            <a:avLst/>
          </a:prstGeom>
          <a:solidFill>
            <a:srgbClr val="5A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41732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41732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alibri"/>
              </a:rPr>
              <a:t>Storage account domain-joined. ActiveDirectoryDomainName is set to the NetBIOS name instead of the DNS root.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258568"/>
            <a:ext cx="256032" cy="256032"/>
          </a:xfrm>
          <a:prstGeom prst="ellipse">
            <a:avLst/>
          </a:prstGeom>
          <a:solidFill>
            <a:srgbClr val="3DA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14884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2023–2026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14884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alibri"/>
              </a:rPr>
              <a:t>Everything works. RC4 needs no salt, so the wrong value is never used — and never noticed.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990088"/>
            <a:ext cx="256032" cy="256032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88036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2026-07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8036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alibri"/>
              </a:rPr>
              <a:t>RC4 hardening lands. The account moves to AES-256 — whose key IS salted with that value.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721608"/>
            <a:ext cx="256032" cy="2560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61188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+minutes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61188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alibri"/>
              </a:rPr>
              <a:t>Region-wide mount failures. System error 1396, production down.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262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81728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"It works on RC4" is not evidence that the configuration is correct. </a:t>
            </a:r>
            <a:r>
              <a:rPr sz="1500" b="0" i="0">
                <a:solidFill>
                  <a:srgbClr val="202440"/>
                </a:solidFill>
                <a:latin typeface="Calibri"/>
              </a:rPr>
              <a:t>RC4 simply never exercises the salt. The migration is what audits your config — for the first 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71500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Your lab was deployed in exactly this state. </a:t>
            </a:r>
            <a:r>
              <a:rPr sz="1400" b="0" i="0">
                <a:solidFill>
                  <a:srgbClr val="202440"/>
                </a:solidFill>
                <a:latin typeface="Calibri"/>
              </a:rPr>
              <a:t>RC4, NetBIOS DomainName, mounts fine. In Lab 2 you'll run the migration and meet the defect yourself.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Migrate to AES-256 — the 2026 mandate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>You are the admin who has to comply. Flip the account to AES-256 and retest.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943600" cy="13716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2C14E"/>
                </a:solidFill>
                <a:latin typeface="Courier New"/>
              </a:rPr>
              <a:t># 1) the naive migration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./labs/Invoke-Aes256Migration.ps1 `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   -ResourceGroupName azfiles-lab -Step Enforce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83280"/>
            <a:ext cx="5943600" cy="16002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2C14E"/>
                </a:solidFill>
                <a:latin typeface="Courier New"/>
              </a:rPr>
              <a:t># 2) client: drop sessions FIRST, then retest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net use * /delete /y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klist purge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net use Z: \\&lt;sa&gt;.file.core.windows.net\labshare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96167"/>
                </a:solidFill>
                <a:latin typeface="Courier New"/>
              </a:rPr>
              <a:t>System error 1396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874519"/>
            <a:ext cx="4892040" cy="40233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05740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Diagnose,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514600"/>
            <a:ext cx="4389120" cy="3200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Evidence:</a:t>
            </a:r>
            <a:r>
              <a:rPr sz="1250">
                <a:solidFill>
                  <a:srgbClr val="202440"/>
                </a:solidFill>
                <a:latin typeface="Calibri"/>
              </a:rPr>
              <a:t> klist shows an AES-256 ticket WAS issued; 4769 on the DC says success → the KDC is fine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So:</a:t>
            </a:r>
            <a:r>
              <a:rPr sz="1250">
                <a:solidFill>
                  <a:srgbClr val="202440"/>
                </a:solidFill>
                <a:latin typeface="Calibri"/>
              </a:rPr>
              <a:t> the service can't decrypt → its key was derived with the wrong salt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Find it:</a:t>
            </a:r>
            <a:r>
              <a:rPr sz="1250">
                <a:solidFill>
                  <a:srgbClr val="202440"/>
                </a:solidFill>
                <a:latin typeface="Calibri"/>
              </a:rPr>
              <a:t> -Step Status → DomainName holds the NetBIOS name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Fix, in order:</a:t>
            </a:r>
            <a:r>
              <a:rPr sz="1250">
                <a:solidFill>
                  <a:srgbClr val="202440"/>
                </a:solidFill>
                <a:latin typeface="Calibri"/>
              </a:rPr>
              <a:t> -Step Repair → correct DomainName, regenerate the kerb key, resync 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Property first, THEN key regeneration — fixing the property alone changes nothing, because the salt is consumed at key-generation time.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 FOR LAB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A sneaky access denial: SMB cipher negotiation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Access is denied (System error 5) — but every permission is correct. </a:t>
            </a:r>
            <a:r>
              <a:rPr sz="1450" b="0" i="0">
                <a:solidFill>
                  <a:srgbClr val="202440"/>
                </a:solidFill>
                <a:latin typeface="Calibri"/>
              </a:rPr>
              <a:t>Cipher negotiation happens in the SMB Negotiate, BEFORE the client names the storage account — so Azure Files can't pick a per-account cipher. If the account allows only AES-256-GCM and the client offers a different one first, the connection dies before auth even starts.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Detect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11880"/>
            <a:ext cx="5394960" cy="13716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storage: Portal &gt; File service &gt; Security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client: which ciphers, in what order?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Get-SmbClientConfiguration |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select EncryptionCiphers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Fix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11880"/>
            <a:ext cx="5394960" cy="13716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put the account's cipher first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Set-SmbClientConfiguration `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-EncryptionCiphers `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"AES_256_GCM,AES_128_GCM,AES_128_CCM"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AES-256-GCM needs Win 11 / WS2022+. The ORDER is what matters — put the account's allowed cipher first.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Access denied — with a perfect Kerberos ticket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989320" cy="12344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72768"/>
            <a:ext cx="5486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Inject: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ourier New"/>
              </a:rPr>
              <a:t>Invoke-Fault.ps1 -Fault CipherMismatch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Storage: AES-256-GCM only. Client: offers AES-128-GCM.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88920"/>
            <a:ext cx="5989320" cy="173736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2C14E"/>
                </a:solidFill>
                <a:latin typeface="Courier New"/>
              </a:rPr>
              <a:t># client — drop sessions first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net use * /delete /y ; klist purge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net use Z: \\&lt;sa&gt;.file.core.windows.net\labshare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96167"/>
                </a:solidFill>
                <a:latin typeface="Courier New"/>
              </a:rPr>
              <a:t>Access is denied.  /  "The user name or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96167"/>
                </a:solidFill>
                <a:latin typeface="Courier New"/>
              </a:rPr>
              <a:t>password is incorrect."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5989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The error accuses the identity. 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So people go audit RBAC, then NTFS, then re-check the domain join — and find nothing wrong, because nothing 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417320"/>
            <a:ext cx="4709160" cy="45262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62763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Diagnose →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084831"/>
            <a:ext cx="4206240" cy="36576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Kerberos is healthy:</a:t>
            </a:r>
            <a:r>
              <a:rPr sz="1250">
                <a:solidFill>
                  <a:srgbClr val="202440"/>
                </a:solidFill>
                <a:latin typeface="Calibri"/>
              </a:rPr>
              <a:t> klist has the cifs ticket; 4769 says success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So compare the two sides:</a:t>
            </a:r>
            <a:r>
              <a:rPr sz="1250">
                <a:solidFill>
                  <a:srgbClr val="202440"/>
                </a:solidFill>
                <a:latin typeface="Calibri"/>
              </a:rPr>
              <a:t> Get-SmbClientConfiguration | select EncryptionCiphers  ↔  Portal → File shares → Security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On the wire:</a:t>
            </a:r>
            <a:r>
              <a:rPr sz="1250">
                <a:solidFill>
                  <a:srgbClr val="202440"/>
                </a:solidFill>
                <a:latin typeface="Calibri"/>
              </a:rPr>
              <a:t> Negotiate completes, then the session is refused — no common cipher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Fix:</a:t>
            </a:r>
            <a:r>
              <a:rPr sz="1250">
                <a:solidFill>
                  <a:srgbClr val="202440"/>
                </a:solidFill>
                <a:latin typeface="Calibri"/>
              </a:rPr>
              <a:t> allow AES-128-GCM on the account, or set the client to offer AES-256-GCM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Real case: days of investigation down the permissions path. The fix was one checkbox on the storage account's SMB security settings.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Auth is only step one: three doors to the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1874519"/>
            <a:ext cx="640080" cy="64008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673351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Storage firewall / network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Public endpoint rules, VNets, private endpoints — and port 445 must be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73351"/>
            <a:ext cx="5257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96167"/>
                </a:solidFill>
                <a:latin typeface="Calibri"/>
              </a:rPr>
              <a:t>When it's the culprit: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System error 64 / 53 · connection timeouts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44952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10712"/>
            <a:ext cx="640080" cy="64008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209544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Share-level (RBAC)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Azure role or DefaultSharePermission decides who may enter the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209544"/>
            <a:ext cx="5257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96167"/>
                </a:solidFill>
                <a:latin typeface="Calibri"/>
              </a:rPr>
              <a:t>When it's the culprit: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Access denied at mount — even with a perfect Kerberos ticket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81144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946904"/>
            <a:ext cx="640080" cy="640080"/>
          </a:xfrm>
          <a:prstGeom prst="ellipse">
            <a:avLst/>
          </a:prstGeom>
          <a:solidFill>
            <a:srgbClr val="3DA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745736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File/directory (NTFS ACLs)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Windows-style ACLs on folders and files inside the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745736"/>
            <a:ext cx="5257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96167"/>
                </a:solidFill>
                <a:latin typeface="Calibri"/>
              </a:rPr>
              <a:t>When it's the culprit: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Access denied on specific paths after a successful mount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Most "Kerberos is broken!" tickets are actually a layer-2 or layer-3 authorization problem. Always ask: which door?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Layers 2 + 3 combine: the effective-access matrix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64240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554480"/>
                <a:gridCol w="182880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NTFS ↓  /  RBAC →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SMB Reader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SMB Contributor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SMB Elevated Contrib.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 / List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Modify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Read, Write, Delete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R/W/Delete + set ACLs (own)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Read, Write, Delete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R/W/Delete + set ACLs (anyone)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92040"/>
            <a:ext cx="11064240" cy="16002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Read the two layers together: 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a user gets the MORE restrictive of the two. "NTFS says Modify but access is denied" almost always means the share-level role is None.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Two ways to grant the share level: 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per-identity RBAC (the user must exist in Entra), or </a:t>
            </a:r>
            <a:r>
              <a:rPr sz="1350" b="1" i="0">
                <a:solidFill>
                  <a:srgbClr val="202440"/>
                </a:solidFill>
                <a:latin typeface="Calibri"/>
              </a:rPr>
              <a:t>DefaultSharePermission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 — one implicit role for every authenticated identity, which is what our lab uses. Note it applies to EVERY share in the account.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This is the table behind the NoShareAccess lab. RBAC changes can take up to ~30 min to propagate — a failure right after assignment is usually just that.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Two more classics, rapid-fire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6420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Blocked TCP 445</a:t>
            </a:r>
            <a:r>
              <a:rPr sz="1200" b="0" i="0">
                <a:solidFill>
                  <a:srgbClr val="5A5A6E"/>
                </a:solidFill>
                <a:latin typeface="Courier New"/>
              </a:rPr>
              <a:t>   -Fault Block445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4892040" cy="123444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net use Z: \\&lt;sa&gt;…\labshare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96167"/>
                </a:solidFill>
                <a:latin typeface="Courier New"/>
              </a:rPr>
              <a:t>System error 53 has occurred.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Test-NetConnection &lt;sa&gt;… -Port 445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96167"/>
                </a:solidFill>
                <a:latin typeface="Courier New"/>
              </a:rPr>
              <a:t>TcpTestSucceeded :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11880"/>
            <a:ext cx="4892040" cy="2103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Blocked 445 shows as:</a:t>
            </a:r>
            <a:r>
              <a:rPr sz="1300">
                <a:solidFill>
                  <a:srgbClr val="202440"/>
                </a:solidFill>
                <a:latin typeface="Calibri"/>
              </a:rPr>
              <a:t> error 53 / 67 or a timeout (ISPs, firewalls, NSGs)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Error 64 is different:</a:t>
            </a:r>
            <a:r>
              <a:rPr sz="1300">
                <a:solidFill>
                  <a:srgbClr val="202440"/>
                </a:solidFill>
                <a:latin typeface="Calibri"/>
              </a:rPr>
              <a:t> TCP connects but a proxy/NAT drops the SMB handshake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Fixes:</a:t>
            </a:r>
            <a:r>
              <a:rPr sz="1300">
                <a:solidFill>
                  <a:srgbClr val="202440"/>
                </a:solidFill>
                <a:latin typeface="Calibri"/>
              </a:rPr>
              <a:t> open 445 · private endpoint · VPN/ER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6420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Share-level access gone</a:t>
            </a:r>
            <a:r>
              <a:rPr sz="1200" b="0" i="0">
                <a:solidFill>
                  <a:srgbClr val="5A5A6E"/>
                </a:solidFill>
                <a:latin typeface="Courier New"/>
              </a:rPr>
              <a:t>   -Fault NoShareAccess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148840"/>
            <a:ext cx="4892040" cy="123444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klist   # ticket looks PERFECT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net use Z: \\&lt;sa&gt;…\labshare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96167"/>
                </a:solidFill>
                <a:latin typeface="Courier New"/>
              </a:rPr>
              <a:t>System error 5: Access is denied.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611880"/>
            <a:ext cx="4892040" cy="2103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The lesson:</a:t>
            </a:r>
            <a:r>
              <a:rPr sz="1300">
                <a:solidFill>
                  <a:srgbClr val="202440"/>
                </a:solidFill>
                <a:latin typeface="Calibri"/>
              </a:rPr>
              <a:t> authentication ≠ authorization — layer 2 slammed shut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Check:</a:t>
            </a:r>
            <a:r>
              <a:rPr sz="1300">
                <a:solidFill>
                  <a:srgbClr val="202440"/>
                </a:solidFill>
                <a:latin typeface="Calibri"/>
              </a:rPr>
              <a:t> role assignments / DefaultSharePermission on the SA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Contrast:</a:t>
            </a:r>
            <a:r>
              <a:rPr sz="1300">
                <a:solidFill>
                  <a:srgbClr val="202440"/>
                </a:solidFill>
                <a:latin typeface="Calibri"/>
              </a:rPr>
              <a:t> NTFS deny would fail AFTER mount, on specific paths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Advanced faults if we're fast: EtypeMismatch · ClockSkew (KRB_AP_ERR_SKEW) · DuplicateSpn — all need the trace or 4769 to identify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Same 1396 — a different root cause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989320" cy="137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Presenter injects: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ourier New"/>
              </a:rPr>
              <a:t>Invoke-Fault.ps1 -Fault PasswordMismatch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The AD computer-account password is rotated; the storage account still holds the old kerb1 key.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5989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You'll see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5989320" cy="141732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net use Z: \\&lt;sa&gt;.file.core.windows.net\labshare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96167"/>
                </a:solidFill>
                <a:latin typeface="Courier New"/>
              </a:rPr>
              <a:t>System error 1396 has occurred.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Logon Failure: The target account 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is incorrect.   (KRB5KRB_AP_ERR_MODIFIED)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463040"/>
            <a:ext cx="4709160" cy="45720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Prove it with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48840"/>
            <a:ext cx="4206240" cy="374903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Capture:</a:t>
            </a:r>
            <a:r>
              <a:rPr sz="1250">
                <a:solidFill>
                  <a:srgbClr val="202440"/>
                </a:solidFill>
                <a:latin typeface="Calibri"/>
              </a:rPr>
              <a:t> Get-KerberosEvidence.ps1 -StorageAccount &lt;sa&gt;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In the trace:</a:t>
            </a:r>
            <a:r>
              <a:rPr sz="1250">
                <a:solidFill>
                  <a:srgbClr val="202440"/>
                </a:solidFill>
                <a:latin typeface="Calibri"/>
              </a:rPr>
              <a:t> TGS-REP succeeds, then SessionSetup returns KRB_AP_ERR_MODIFIED — proof the KDC was fine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On the DC:</a:t>
            </a:r>
            <a:r>
              <a:rPr sz="1250">
                <a:solidFill>
                  <a:srgbClr val="202440"/>
                </a:solidFill>
                <a:latin typeface="Calibri"/>
              </a:rPr>
              <a:t> event 4769 shows a SUCCESSFUL ticket issue for the SPN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Cross-check:</a:t>
            </a:r>
            <a:r>
              <a:rPr sz="1250">
                <a:solidFill>
                  <a:srgbClr val="202440"/>
                </a:solidFill>
                <a:latin typeface="Calibri"/>
              </a:rPr>
              <a:t> Debug-AzStorageAccountAuth → CheckADObjectPasswordIsCorrect fails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Fix (prod):</a:t>
            </a:r>
            <a:r>
              <a:rPr sz="1250">
                <a:solidFill>
                  <a:srgbClr val="202440"/>
                </a:solidFill>
                <a:latin typeface="Calibri"/>
              </a:rPr>
              <a:t> Update-AzStorageAccountADObjectPassword — rotate kerb1 &amp; sync 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The lesson: a successful 4769 plus a failed SessionSetup narrows this to the service key in one step — no guesswork.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The KDC can't find the service: broken SPN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989320" cy="137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Presenter injects: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ourier New"/>
              </a:rPr>
              <a:t>Invoke-Fault.ps1 -Fault SpnBroken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The SPN on the computer account is replaced with a wrong value.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5989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You'll see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5989320" cy="155448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klist get cifs/&lt;sa&gt;.file.core.windows.net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96167"/>
                </a:solidFill>
                <a:latin typeface="Courier New"/>
              </a:rPr>
              <a:t>klist failed with 0xc000018b: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The SAM database … does not have a computer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account…  (KRB5KDC_ERR_S_PRINCIPAL_UNKNOWN)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463040"/>
            <a:ext cx="4709160" cy="45720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Diagnose →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48840"/>
            <a:ext cx="4206240" cy="374903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Why:</a:t>
            </a:r>
            <a:r>
              <a:rPr sz="1300">
                <a:solidFill>
                  <a:srgbClr val="202440"/>
                </a:solidFill>
                <a:latin typeface="Calibri"/>
              </a:rPr>
              <a:t> TGS-REQ names a principal the DC has never heard of — no object owns that SPN.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Confirm:</a:t>
            </a:r>
            <a:r>
              <a:rPr sz="1300">
                <a:solidFill>
                  <a:srgbClr val="202440"/>
                </a:solidFill>
                <a:latin typeface="Calibri"/>
              </a:rPr>
              <a:t> setspn -Q cifs/&lt;sa&gt;.file.core.windows.net → nothing; Get-ADComputer &lt;sa&gt; -Properties ServicePrincipalNames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Watch for:</a:t>
            </a:r>
            <a:r>
              <a:rPr sz="1300">
                <a:solidFill>
                  <a:srgbClr val="202440"/>
                </a:solidFill>
                <a:latin typeface="Calibri"/>
              </a:rPr>
              <a:t> custom-domain setups &amp; multi-forest routing — same error, different root cause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Fix:</a:t>
            </a:r>
            <a:r>
              <a:rPr sz="1300">
                <a:solidFill>
                  <a:srgbClr val="202440"/>
                </a:solidFill>
                <a:latin typeface="Calibri"/>
              </a:rPr>
              <a:t> restore the exact SPN (…-Repair)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Multi-forest? The file share lives in ONE domain of ONE forest — everyone else needs trusts + suffix routing.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The 60-second triage, from today's labs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6424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91840"/>
                <a:gridCol w="4114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Symptom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First command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Likely layer / cause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Error 53 / 67 / timeout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Test-NetConnection -Port 445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Network: 445 blocked, DNS (64 = proxy/NAT drops the handshake)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Error 1396 / AP_ERR_MODIFIED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Debug-AzStorageAccountAuth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Kerb key ↔ AD password out of sync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0xc000018b / PRINCIPAL_UNKNOWN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setspn -Q cifs/&lt;sa&gt;…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SPN missing/wrong · multi-forest routing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"encryption type not supported"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klist (etype) + gpedit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etype mismatch — use AES-256 (RC4 retired by 2026 hardening)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Access denied, ticket valid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check RBAC + icacls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Authorization: share-level or NTFS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Mount works with key, not identity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klist get cifs/&lt;sa&gt;…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Kerberos config — walk the triangle again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Escalating a real case? Collect: netsh trace of the repro + SMBClient/Kerberos event logs + storage account &amp; share name + timestamp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89920" y="-914400"/>
            <a:ext cx="2926080" cy="292608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937760"/>
            <a:ext cx="2743200" cy="2743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F2C14E"/>
                </a:solidFill>
                <a:latin typeface="Calibri"/>
              </a:rPr>
              <a:t>SESSION 1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You now own the AD DS triangle.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332720" cy="20116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>
                <a:solidFill>
                  <a:srgbClr val="F2C14E"/>
                </a:solidFill>
                <a:latin typeface="Calibri"/>
              </a:rPr>
              <a:t>▪  </a:t>
            </a:r>
            <a:r>
              <a:rPr b="1" sz="1600">
                <a:solidFill>
                  <a:srgbClr val="CADCFC"/>
                </a:solidFill>
                <a:latin typeface="Calibri"/>
              </a:rPr>
              <a:t>Tear down now</a:t>
            </a:r>
            <a:r>
              <a:rPr sz="1600">
                <a:solidFill>
                  <a:srgbClr val="CADCFC"/>
                </a:solidFill>
                <a:latin typeface="Calibri"/>
              </a:rPr>
              <a:t> — Remove-AzResourceGroup -Name azfiles-lab -Force. You'll redeploy before Session 2 (watch for the reminder).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>
                <a:solidFill>
                  <a:srgbClr val="F2C14E"/>
                </a:solidFill>
                <a:latin typeface="Calibri"/>
              </a:rPr>
              <a:t>▪  </a:t>
            </a:r>
            <a:r>
              <a:rPr b="1" sz="1600">
                <a:solidFill>
                  <a:srgbClr val="CADCFC"/>
                </a:solidFill>
                <a:latin typeface="Calibri"/>
              </a:rPr>
              <a:t>Homework (optional):</a:t>
            </a:r>
            <a:r>
              <a:rPr sz="1600">
                <a:solidFill>
                  <a:srgbClr val="CADCFC"/>
                </a:solidFill>
                <a:latin typeface="Calibri"/>
              </a:rPr>
              <a:t> after redeploying, run the EtypeMismatch fault yourself and read the TGS-REP in a netsh trace.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>
                <a:solidFill>
                  <a:srgbClr val="F2C14E"/>
                </a:solidFill>
                <a:latin typeface="Calibri"/>
              </a:rPr>
              <a:t>▪  </a:t>
            </a:r>
            <a:r>
              <a:rPr b="1" sz="1600">
                <a:solidFill>
                  <a:srgbClr val="CADCFC"/>
                </a:solidFill>
                <a:latin typeface="Calibri"/>
              </a:rPr>
              <a:t>Next time:</a:t>
            </a:r>
            <a:r>
              <a:rPr sz="1600">
                <a:solidFill>
                  <a:srgbClr val="CADCFC"/>
                </a:solidFill>
                <a:latin typeface="Calibri"/>
              </a:rPr>
              <a:t> the same share, zero line-of-sight to any DC — Microsoft Entra Kerberos. Bring Global Admin on a DEV tenant (least-privilege alternative: Hybrid Identity Admin + Cloud Application Admin).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Questions? Let's use the remaining minutes.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KEEP 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References &amp;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Microsoft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577840" cy="3840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Overview:</a:t>
            </a:r>
            <a:r>
              <a:rPr sz="1350">
                <a:solidFill>
                  <a:srgbClr val="202440"/>
                </a:solidFill>
                <a:latin typeface="Calibri"/>
              </a:rPr>
              <a:t> Azure Files identity-based authentication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Enable:</a:t>
            </a:r>
            <a:r>
              <a:rPr sz="1350">
                <a:solidFill>
                  <a:srgbClr val="202440"/>
                </a:solidFill>
                <a:latin typeface="Calibri"/>
              </a:rPr>
              <a:t> On-premises AD DS authentication for Azure file shares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Permissions:</a:t>
            </a:r>
            <a:r>
              <a:rPr sz="1350">
                <a:solidFill>
                  <a:srgbClr val="202440"/>
                </a:solidFill>
                <a:latin typeface="Calibri"/>
              </a:rPr>
              <a:t> Share-level (RBAC) · Directory/file-level (Windows ACLs)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Encryption:</a:t>
            </a:r>
            <a:r>
              <a:rPr sz="1350">
                <a:solidFill>
                  <a:srgbClr val="202440"/>
                </a:solidFill>
                <a:latin typeface="Calibri"/>
              </a:rPr>
              <a:t> AES-256 migration &amp; the RC4 retirement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Multi-forest:</a:t>
            </a:r>
            <a:r>
              <a:rPr sz="1350">
                <a:solidFill>
                  <a:srgbClr val="202440"/>
                </a:solidFill>
                <a:latin typeface="Calibri"/>
              </a:rPr>
              <a:t> Use Azure Files with multiple AD forests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Troubleshooting:</a:t>
            </a:r>
            <a:r>
              <a:rPr sz="1350">
                <a:solidFill>
                  <a:srgbClr val="202440"/>
                </a:solidFill>
                <a:latin typeface="Calibri"/>
              </a:rPr>
              <a:t> Azure Files SMB connectivity &amp; identity-based 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If your lab breaks beyond repair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5120640" cy="201168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every fault is reversible: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.\faults\Invoke-Fault.ps1 -Fault &lt;name&gt; -Repair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nuclear option - full redeploy (~20 min):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Remove-AzResourceGroup -Name azfiles-lab -Force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.\deploy.ps1 -ResourceGroupName azfiles-lab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160520"/>
            <a:ext cx="5120640" cy="1737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Deep diagnosis:</a:t>
            </a:r>
            <a:r>
              <a:rPr sz="1300">
                <a:solidFill>
                  <a:srgbClr val="202440"/>
                </a:solidFill>
                <a:latin typeface="Calibri"/>
              </a:rPr>
              <a:t> DC Security log Event 4769 (TGS requests) + SMBClient/Kerberos operational logs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Workbook:</a:t>
            </a:r>
            <a:r>
              <a:rPr sz="1300">
                <a:solidFill>
                  <a:srgbClr val="202440"/>
                </a:solidFill>
                <a:latin typeface="Calibri"/>
              </a:rPr>
              <a:t> the error→cause map + your observation log are your take-home cheat sheet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