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Frame the promise: by the end they will diagnose, not guess. Two sessions; today is on-prem AD 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EVERYONE running the deploy in the first 5 minutes before any theory. Walk the room; the #1 blocker is not being logged in with Connect-AzAccount.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concepts while it deploys (~25 min), then break/fix. Emphasize the capstone at the end - they will diagnose a mystery fault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key vs identity. Key = two superuser keys that bypass RBAC AND NTFS - worth pausing on; many admins don't realize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kingdom story with energy - it maps 1:1 to AS/TGS/AP. Every fault later is 'which step of this story broke'.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mental model. Repeat the mantra: computer object + SPN + kerb-key password. The account can be a computer OR a user object (AccountType).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Matrix slide - don't read it; ask 'which column is your production?' Note Entra-only is GA now but needs Win11 25H2+/WS2025.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Line of sight demystified: DNS 53, Kerberos 88, LDAP 389, SMB 445. Domain JOIN needs RPC too. Non-joined machines CAN mount with explicit creds.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live news - enforcement started with the 2026 waves. Ask who has pre-2023 storage accounts. Lab is AES-256 already.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Share-level options. Warning: DefaultSharePermission applies to ALL shares in the account. RBAC propagation up to ~30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doors: network, share RBAC, NTFS. Most 'Kerberos broken' tickets are doors 2-3.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Effective access = MIN(RBAC, NTFS). ACL editing needs Elevated Contributor / Privileged Contributor / storage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Cipher negotiation happens BEFORE auth - that's why it can't be per-account. Order the client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what the automation did while it deployed - by now it should be nearly done. Poll for the green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Toolkit tour - klist is the star. Demo Debug-AzStorageAccountAuth once here if time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1: healthy baseline. Insist on screenshots - the whole capstone depends on knowing 'good'.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2 (you drive the injection): let them predict FIRST. The aha: ticket IS issued, mount still fails -&gt; AP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3 (they drive): contrast with Lab 2 - no ticket at all this time -&gt; TGS stage, setspn is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 4 rapid rounds: blocked 445 shows error 53/67 (64 = proxy/NAT drop - different signature). NoShareAccess: perfect ticket, denied -&gt; authorization.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Triage table = the takeaway. Point at the printed flowchart; capstone next if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Tear down NOW (idle VMs cost money). Session 2 prereqs: redeploy beforehand + Global Admin on a dev 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references up during Q&amp;A. Remind: every fault script is theirs to re-run.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291840" cy="32918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338560" y="5120640"/>
            <a:ext cx="2926080" cy="292608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4754880"/>
            <a:ext cx="3108960" cy="310896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F2C14E"/>
                </a:solidFill>
                <a:latin typeface="Calibri"/>
              </a:rPr>
              <a:t>AZURE FILES · IDENTITY-BASED AUTHENTICATION · SESSION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On-Premises AD DS Authentication,
Hands-On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CADCFC"/>
                </a:solidFill>
                <a:latin typeface="Calibri"/>
              </a:rPr>
              <a:t>Deploy it, break it, fix it — the failures you'll actually meet in production.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CADCFC"/>
                </a:solidFill>
                <a:latin typeface="Calibri"/>
              </a:rPr>
              <a:t>60 minutes · bring your own Azure subscription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0:00 – DO THIS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First things first: start your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6766560" cy="1874519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DA56E"/>
                </a:solidFill>
                <a:latin typeface="Courier New"/>
              </a:rPr>
              <a:t># allow unsigned lab scripts in THIS window only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PS&gt; </a:t>
            </a:r>
            <a:r>
              <a:rPr sz="1300" b="0">
                <a:solidFill>
                  <a:srgbClr val="D8E4FF"/>
                </a:solidFill>
                <a:latin typeface="Courier New"/>
              </a:rPr>
              <a:t>Set-ExecutionPolicy -Scope Process `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        -ExecutionPolicy Bypass -Force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PS&gt; </a:t>
            </a:r>
            <a:r>
              <a:rPr sz="1300" b="0">
                <a:solidFill>
                  <a:srgbClr val="D8E4FF"/>
                </a:solidFill>
                <a:latin typeface="Courier New"/>
              </a:rPr>
              <a:t>Connect-AzAccount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PS&gt; </a:t>
            </a:r>
            <a:r>
              <a:rPr sz="1300" b="0">
                <a:solidFill>
                  <a:srgbClr val="D8E4FF"/>
                </a:solidFill>
                <a:latin typeface="Courier New"/>
              </a:rPr>
              <a:t>cd session1-adds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PS&gt; </a:t>
            </a:r>
            <a:r>
              <a:rPr sz="1300" b="0">
                <a:solidFill>
                  <a:srgbClr val="D8E4FF"/>
                </a:solidFill>
                <a:latin typeface="Courier New"/>
              </a:rPr>
              <a:t>.\deploy.ps1 -ResourceGroupName azfiles-lab `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        -Location koreacentral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20440"/>
            <a:ext cx="67665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One command, zero interaction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202440"/>
                </a:solidFill>
                <a:latin typeface="Calibri"/>
              </a:rPr>
              <a:t>It builds a complete simulated on-prem environment in your subscription in ~30 minutes (no Bicep CLI needed). We'll cover the concepts while it cooks, then break it together.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417320"/>
            <a:ext cx="3977639" cy="466344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1645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What gets deployed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103120"/>
            <a:ext cx="3474720" cy="3840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DC VM</a:t>
            </a:r>
            <a:r>
              <a:rPr sz="1350">
                <a:solidFill>
                  <a:srgbClr val="202440"/>
                </a:solidFill>
                <a:latin typeface="Calibri"/>
              </a:rPr>
              <a:t> — new AD forest contoso.local (your "on-prem")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Client VM</a:t>
            </a:r>
            <a:r>
              <a:rPr sz="1350">
                <a:solidFill>
                  <a:srgbClr val="202440"/>
                </a:solidFill>
                <a:latin typeface="Calibri"/>
              </a:rPr>
              <a:t> — domain-joined Windows Server 2022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Storage account + share</a:t>
            </a:r>
            <a:r>
              <a:rPr sz="1350">
                <a:solidFill>
                  <a:srgbClr val="202440"/>
                </a:solidFill>
                <a:latin typeface="Calibri"/>
              </a:rPr>
              <a:t> — domain-joined via computer account + SPN + kerb key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Lab users</a:t>
            </a:r>
            <a:r>
              <a:rPr sz="1350">
                <a:solidFill>
                  <a:srgbClr val="202440"/>
                </a:solidFill>
                <a:latin typeface="Calibri"/>
              </a:rPr>
              <a:t> — labuser1 / labuser2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Permissions</a:t>
            </a:r>
            <a:r>
              <a:rPr sz="1350">
                <a:solidFill>
                  <a:srgbClr val="202440"/>
                </a:solidFill>
                <a:latin typeface="Calibri"/>
              </a:rPr>
              <a:t> — default share-level + NTFS ACLs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Prereqs: Owner on the subscription · quota for 2× B2ms · Az PowerShell modules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The next 60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81328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585216" cy="585216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591056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Kick off the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591056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one command, then hands 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50592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578608"/>
            <a:ext cx="585216" cy="585216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60320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Concepts while it deploys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Kerberos 101 · auth options · line of sight · RC4→AES-256 · 3 security layers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19856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547872"/>
            <a:ext cx="585216" cy="585216"/>
          </a:xfrm>
          <a:prstGeom prst="ellipse">
            <a:avLst/>
          </a:prstGeom>
          <a:solidFill>
            <a:srgbClr val="3DA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529584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Lab 1 — the healthy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529584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mount the share, read your Kerberos tickets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517136"/>
            <a:ext cx="585216" cy="585216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498848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Labs 2–4 — break / 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498848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password mismatch · broken SPN · blocked 445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58384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5486400"/>
            <a:ext cx="585216" cy="585216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:55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5468112"/>
            <a:ext cx="4206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Wrap-up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468112"/>
            <a:ext cx="5486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A5A6E"/>
                </a:solidFill>
                <a:latin typeface="Calibri"/>
              </a:rPr>
              <a:t>decision tree + Session 2 teaser (keep your environment!)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WHY IDENTITY-BASED AUTH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Two ways into an Azure file share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440680" cy="41148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1E2761"/>
                </a:solidFill>
                <a:latin typeface="Calibri"/>
              </a:rPr>
              <a:t>Storage account key (NTLMv2)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4892040" cy="3108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50">
                <a:solidFill>
                  <a:srgbClr val="2A367E"/>
                </a:solidFill>
                <a:latin typeface="Calibri"/>
              </a:rPr>
              <a:t>▪  </a:t>
            </a:r>
            <a:r>
              <a:rPr b="1" sz="1450">
                <a:solidFill>
                  <a:srgbClr val="202440"/>
                </a:solidFill>
                <a:latin typeface="Calibri"/>
              </a:rPr>
              <a:t>Two account keys, superuser power.</a:t>
            </a:r>
            <a:r>
              <a:rPr sz="1450">
                <a:solidFill>
                  <a:srgbClr val="202440"/>
                </a:solidFill>
                <a:latin typeface="Calibri"/>
              </a:rPr>
              <a:t> A key holder bypasses share RBAC and NTFS entirely.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50">
                <a:solidFill>
                  <a:srgbClr val="2A367E"/>
                </a:solidFill>
                <a:latin typeface="Calibri"/>
              </a:rPr>
              <a:t>▪  </a:t>
            </a:r>
            <a:r>
              <a:rPr b="1" sz="1450">
                <a:solidFill>
                  <a:srgbClr val="202440"/>
                </a:solidFill>
                <a:latin typeface="Calibri"/>
              </a:rPr>
              <a:t>No user identity</a:t>
            </a:r>
            <a:r>
              <a:rPr sz="1450">
                <a:solidFill>
                  <a:srgbClr val="202440"/>
                </a:solidFill>
                <a:latin typeface="Calibri"/>
              </a:rPr>
              <a:t> — no per-user/group permissions, no audit trail.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50">
                <a:solidFill>
                  <a:srgbClr val="2A367E"/>
                </a:solidFill>
                <a:latin typeface="Calibri"/>
              </a:rPr>
              <a:t>▪  </a:t>
            </a:r>
            <a:r>
              <a:rPr b="1" sz="1450">
                <a:solidFill>
                  <a:srgbClr val="202440"/>
                </a:solidFill>
                <a:latin typeface="Calibri"/>
              </a:rPr>
              <a:t>Fine for</a:t>
            </a:r>
            <a:r>
              <a:rPr sz="1450">
                <a:solidFill>
                  <a:srgbClr val="202440"/>
                </a:solidFill>
                <a:latin typeface="Calibri"/>
              </a:rPr>
              <a:t> infra automation; wrong for end users.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440680" cy="4114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Identity-based (Kerberos)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40280"/>
            <a:ext cx="4892040" cy="3108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50">
                <a:solidFill>
                  <a:srgbClr val="F2C14E"/>
                </a:solidFill>
                <a:latin typeface="Calibri"/>
              </a:rPr>
              <a:t>▪  </a:t>
            </a:r>
            <a:r>
              <a:rPr b="1" sz="1450">
                <a:solidFill>
                  <a:srgbClr val="CADCFC"/>
                </a:solidFill>
                <a:latin typeface="Calibri"/>
              </a:rPr>
              <a:t>Users authenticate as themselves</a:t>
            </a:r>
            <a:r>
              <a:rPr sz="1450">
                <a:solidFill>
                  <a:srgbClr val="CADCFC"/>
                </a:solidFill>
                <a:latin typeface="Calibri"/>
              </a:rPr>
              <a:t> over SMB.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50">
                <a:solidFill>
                  <a:srgbClr val="F2C14E"/>
                </a:solidFill>
                <a:latin typeface="Calibri"/>
              </a:rPr>
              <a:t>▪  </a:t>
            </a:r>
            <a:r>
              <a:rPr b="1" sz="1450">
                <a:solidFill>
                  <a:srgbClr val="CADCFC"/>
                </a:solidFill>
                <a:latin typeface="Calibri"/>
              </a:rPr>
              <a:t>Granular ACLs</a:t>
            </a:r>
            <a:r>
              <a:rPr sz="1450">
                <a:solidFill>
                  <a:srgbClr val="CADCFC"/>
                </a:solidFill>
                <a:latin typeface="Calibri"/>
              </a:rPr>
              <a:t> — bring existing NTFS permissions to the cloud.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50">
                <a:solidFill>
                  <a:srgbClr val="F2C14E"/>
                </a:solidFill>
                <a:latin typeface="Calibri"/>
              </a:rPr>
              <a:t>▪  </a:t>
            </a:r>
            <a:r>
              <a:rPr b="1" sz="1450">
                <a:solidFill>
                  <a:srgbClr val="CADCFC"/>
                </a:solidFill>
                <a:latin typeface="Calibri"/>
              </a:rPr>
              <a:t>Three flavors:</a:t>
            </a:r>
            <a:r>
              <a:rPr sz="1450">
                <a:solidFill>
                  <a:srgbClr val="CADCFC"/>
                </a:solidFill>
                <a:latin typeface="Calibri"/>
              </a:rPr>
              <a:t> on-prem AD DS · Entra Domain Services · Entra Kerberos.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Today: on-prem AD DS. Session 2: Microsoft Entra Kerberos for hybrid identities.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 · WHILE YOUR DC PROMOTES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Kerberos in one story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472184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417320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"Hi King, I'm Blue — here's my ID."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417320"/>
            <a:ext cx="55778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AS-REQ: client proves who it is to the Authentication Service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276856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221992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King hands Blue coins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221992"/>
            <a:ext cx="55778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AS-REP: a TGT — Ticket Granting Ticket — encrypted so only the KDC can read it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081528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026664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"Queen, coins please → ticket to KFC"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026664"/>
            <a:ext cx="55778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TGS-REQ: exchange TGT for a ticket to one specific service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86200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831336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Queen issues the KFC ticket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831336"/>
            <a:ext cx="55778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TGS-REP: a Service Ticket encrypted with the service's own key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690872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636008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Blue shows the ticket at KFC's door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636008"/>
            <a:ext cx="55778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AP-REQ: the file server decrypts the ST with its password-derived key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5495544"/>
            <a:ext cx="512064" cy="512064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40680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"Welcome in!"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5440680"/>
            <a:ext cx="55778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AP-REP: session established — SMB mounts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King = AS · Queen = TGS (together: the KDC, i.e. your domain controller) · KFC = the Azure file share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The same story, with our actors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4937760"/>
                <a:gridCol w="32918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Kerberos role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 this lab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Key material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02440"/>
                          </a:solidFill>
                          <a:latin typeface="Calibri"/>
                        </a:rPr>
                        <a:t>KDC (AS + TGS)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02440"/>
                          </a:solidFill>
                          <a:latin typeface="Calibri"/>
                        </a:rPr>
                        <a:t>Your DC — contoso.local domain controller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02440"/>
                          </a:solidFill>
                          <a:latin typeface="Calibri"/>
                        </a:rPr>
                        <a:t>krbtgt account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02440"/>
                          </a:solidFill>
                          <a:latin typeface="Calibri"/>
                        </a:rPr>
                        <a:t>Client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02440"/>
                          </a:solidFill>
                          <a:latin typeface="Calibri"/>
                        </a:rPr>
                        <a:t>Client VM, logged on as CONTOSO\labuser1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02440"/>
                          </a:solidFill>
                          <a:latin typeface="Calibri"/>
                        </a:rPr>
                        <a:t>user password hash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02440"/>
                          </a:solidFill>
                          <a:latin typeface="Calibri"/>
                        </a:rPr>
                        <a:t>Service </a:t>
                      </a:r>
                      <a:r>
                        <a:rPr sz="1400" b="1">
                          <a:solidFill>
                            <a:srgbClr val="202440"/>
                          </a:solidFill>
                          <a:latin typeface="Calibri"/>
                        </a:rPr>
                        <a:t>(the interesting one!)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02440"/>
                          </a:solidFill>
                          <a:latin typeface="Calibri"/>
                        </a:rPr>
                        <a:t>Storage account — an AD </a:t>
                      </a:r>
                      <a:r>
                        <a:rPr sz="1400" b="1">
                          <a:solidFill>
                            <a:srgbClr val="202440"/>
                          </a:solidFill>
                          <a:latin typeface="Calibri"/>
                        </a:rPr>
                        <a:t>computer account</a:t>
                      </a:r>
                      <a:r>
                        <a:rPr sz="1400" b="0">
                          <a:solidFill>
                            <a:srgbClr val="202440"/>
                          </a:solidFill>
                          <a:latin typeface="Calibri"/>
                        </a:rPr>
                        <a:t> named after it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02440"/>
                          </a:solidFill>
                          <a:latin typeface="Calibri"/>
                        </a:rPr>
                        <a:t>its password = the SA's </a:t>
                      </a:r>
                      <a:r>
                        <a:rPr sz="1400" b="1">
                          <a:solidFill>
                            <a:srgbClr val="202440"/>
                          </a:solidFill>
                          <a:latin typeface="Calibri"/>
                        </a:rPr>
                        <a:t>kerb1 key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02440"/>
                          </a:solidFill>
                          <a:latin typeface="Calibri"/>
                        </a:rPr>
                        <a:t>Service Principal Name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cifs/&lt;sa&gt;.file.core.windows.net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02440"/>
                          </a:solidFill>
                          <a:latin typeface="Calibri"/>
                        </a:rPr>
                        <a:t>how the TGS finds the service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This is the whole trick: </a:t>
            </a:r>
            <a:r>
              <a:rPr sz="1500" b="0" i="0">
                <a:solidFill>
                  <a:srgbClr val="202440"/>
                </a:solidFill>
                <a:latin typeface="Calibri"/>
              </a:rPr>
              <a:t>"domain joining a storage account" just means creating an AD account (computer object — or a service-logon user account — either works) whose password is the storage kerb key and whose SPN points at the file endpoint. Every fault we inject today attacks one edge of this triangle.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Which identity source fits which client?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110642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017520"/>
                <a:gridCol w="274320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On-prem AD DS  (today)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Entra Domain Services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Entra Kerberos  (session 2)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Client joined 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AD domain (or line of sight + creds)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Entra DS managed domain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Entra joined / hybrid joined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Line of sight to DC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Required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Required (to managed DCs)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Not required for access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User type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AD users (sync optional*)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Synced to Entra 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Hybrid (Entra-only: Win11 25H2+/WS2025)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Storage acct joined to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Your 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Managed domain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Entra ID (auto app)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Typical scenario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Lift-and-shift file servers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No on-prem AD, legacy apps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AVD / remote work, no VPN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* share-level RBAC needs the user in Entra — or use a default share permission, which is what our lab automation does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"Line of sight" — what it actually means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554480"/>
            <a:ext cx="548640" cy="5486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DNS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463040"/>
            <a:ext cx="7635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The client must RESOLVE the AD domain — its DNS must point at (or forward to) a DC. In our lab the VNet's DNS server is the DC itself.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70048"/>
            <a:ext cx="548640" cy="5486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578608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DC locator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578608"/>
            <a:ext cx="7635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Windows finds a DC via DNS SRV records (_ldap._tcp.dc._msdcs.&lt;domain&gt;) — nltest /dsgetdc:&lt;domain&gt; shows the result.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85615"/>
            <a:ext cx="548640" cy="5486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94176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The 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3694176"/>
            <a:ext cx="7635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DNS 53 · Kerberos 88 · LDAP 389 · SMB 445 must be reachable (VPN/ExpressRoute for remote clients). Domain JOIN and GPO additionally need RPC 135 + dynamic ports.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01183"/>
            <a:ext cx="548640" cy="54864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809744"/>
            <a:ext cx="2377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No domain join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4809744"/>
            <a:ext cx="7635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5A5A6E"/>
                </a:solidFill>
                <a:latin typeface="Calibri"/>
              </a:rPr>
              <a:t>A non-joined machine CAN mount with explicit AD credentials — as long as steps 1–3 work. Domain join is about the machine, line of sight is about the network.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Multi-forest bonus: the share joins ONE domain in ONE forest — other forests need a trust + name-suffix routing (or an SPN alias + CNAME)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 · 2026 HARDENING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Happening right now: the RC4 retirement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1600200"/>
          </a:xfrm>
          <a:prstGeom prst="roundRect">
            <a:avLst>
              <a:gd name="adj" fmla="val 8000"/>
            </a:avLst>
          </a:prstGeom>
          <a:solidFill>
            <a:srgbClr val="FD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64208"/>
            <a:ext cx="10424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Windows hardening has been phasing out RC4-HMAC since April 2026, and the July 2026 servicing wave flipped AD DS defaults to AES-256 — enforcement is live now. </a:t>
            </a:r>
            <a:r>
              <a:rPr sz="1500" b="0" i="0">
                <a:solidFill>
                  <a:srgbClr val="202440"/>
                </a:solidFill>
                <a:latin typeface="Calibri"/>
              </a:rPr>
              <a:t>Storage accounts domain-joined before 2023 — or joined manually with RC4 — are failing mounts as patched clients and DCs refuse RC4 tickets.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Am I affected? (AD DS auth only)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03320"/>
            <a:ext cx="5394960" cy="2194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Check the AD object:</a:t>
            </a:r>
            <a:r>
              <a:rPr sz="1300">
                <a:solidFill>
                  <a:srgbClr val="202440"/>
                </a:solidFill>
                <a:latin typeface="Calibri"/>
              </a:rPr>
              <a:t> Get-ADComputer &lt;sa&gt; -Properties msDS-SupportedEncryptionTypes · KerberosEncryptionType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Check the ticket:</a:t>
            </a:r>
            <a:r>
              <a:rPr sz="1300">
                <a:solidFill>
                  <a:srgbClr val="202440"/>
                </a:solidFill>
                <a:latin typeface="Calibri"/>
              </a:rPr>
              <a:t> klist → the cifs ticket's etype after a mount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Check the SA:</a:t>
            </a:r>
            <a:r>
              <a:rPr sz="1300">
                <a:solidFill>
                  <a:srgbClr val="202440"/>
                </a:solidFill>
                <a:latin typeface="Calibri"/>
              </a:rPr>
              <a:t> old deployments may miss SamAccountName — required for AES-256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91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Migrate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703320"/>
            <a:ext cx="5303520" cy="2194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AzFilesHybrid:</a:t>
            </a:r>
            <a:r>
              <a:rPr sz="1300">
                <a:solidFill>
                  <a:srgbClr val="202440"/>
                </a:solidFill>
                <a:latin typeface="Calibri"/>
              </a:rPr>
              <a:t> Update-AzStorageAccountAuthForAES256 does the whole dance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Manually:</a:t>
            </a:r>
            <a:r>
              <a:rPr sz="1300">
                <a:solidFill>
                  <a:srgbClr val="202440"/>
                </a:solidFill>
                <a:latin typeface="Calibri"/>
              </a:rPr>
              <a:t> set AES256 on the account, register SamAccountName, THEN rotate the kerb key — order matters (AES keys derive from the password at set time)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Our lab</a:t>
            </a:r>
            <a:r>
              <a:rPr sz="1300">
                <a:solidFill>
                  <a:srgbClr val="202440"/>
                </a:solidFill>
                <a:latin typeface="Calibri"/>
              </a:rPr>
              <a:t> deploys AES-256 from the start — you'll see it in klist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Entra Kerberos / Entra DS accounts are not affected — this hardening only bites the on-prem AD DS path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Layer 2 up close: who may enter the share?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846320"/>
                <a:gridCol w="36576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Per-identity RBAC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Assign a built-in role to a user/group on the share:
SMB Share Reader · Contributor · Elevated Contributor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Production — but the identity must EXIST in Entra (synced/hybrid for AD DS auth)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Default share permission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One implicit role for every authenticated identity
(DefaultSharePermission on the storage account)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Labs, AVD/FSLogix fleets, or when users aren't synced to Entra — our lab uses this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64240" cy="17373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34340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Why this matters for troubleshooting: </a:t>
            </a:r>
            <a:r>
              <a:rPr sz="1450" b="0" i="0">
                <a:solidFill>
                  <a:srgbClr val="202440"/>
                </a:solidFill>
                <a:latin typeface="Calibri"/>
              </a:rPr>
              <a:t>with AD DS auth, per-identity RBAC is matched via the user's SID synced to Entra. Unsynced user → no role → access denied even though Kerberos succeeded. Default share permission sidesteps the sync requirement — but note it applies to EVERY file share in the storage account, so treat it as a deliberate security decision. NTFS (layer 3) still applies either 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RBAC changes typically take up to ~30 minutes to propagate — "it still fails" right after assignment is usually just that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Auth is only step one: three doors to the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1874519"/>
            <a:ext cx="640080" cy="64008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673351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Storage firewall / network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Public endpoint rules, VNets, private endpoints — and port 445 must be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73351"/>
            <a:ext cx="5257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96167"/>
                </a:solidFill>
                <a:latin typeface="Calibri"/>
              </a:rPr>
              <a:t>When it's the culprit: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System error 64 / 53 · connection timeouts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44952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10712"/>
            <a:ext cx="640080" cy="64008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209544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Share-level (RBAC)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Azure role or DefaultSharePermission decides who may enter the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209544"/>
            <a:ext cx="5257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96167"/>
                </a:solidFill>
                <a:latin typeface="Calibri"/>
              </a:rPr>
              <a:t>When it's the culprit: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Access denied at mount — even with a perfect Kerberos ticket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81144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946904"/>
            <a:ext cx="640080" cy="640080"/>
          </a:xfrm>
          <a:prstGeom prst="ellipse">
            <a:avLst/>
          </a:prstGeom>
          <a:solidFill>
            <a:srgbClr val="3DA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745736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50" b="1" i="0">
                <a:solidFill>
                  <a:srgbClr val="1E2761"/>
                </a:solidFill>
                <a:latin typeface="Calibri"/>
              </a:rPr>
              <a:t>File/directory (NTFS ACLs)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Windows-style ACLs on folders and files inside the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745736"/>
            <a:ext cx="5257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F96167"/>
                </a:solidFill>
                <a:latin typeface="Calibri"/>
              </a:rPr>
              <a:t>When it's the culprit: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202440"/>
                </a:solidFill>
                <a:latin typeface="Calibri"/>
              </a:rPr>
              <a:t>Access denied on specific paths after a successful mount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Most "Kerberos is broken!" tickets are actually a layer-2 or layer-3 authorization problem. Always ask: which door?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Layers 2 + 3 combine: the effective-access matrix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11064240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554480"/>
                <a:gridCol w="182880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NTFS ↓  /  RBAC →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SMB Reader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SMB Contributor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SMB Elevated Contrib.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 / List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Modify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Read, Write, Delete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R/W/Delete + set ACLs (own)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Denied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Read, Write, Delete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02440"/>
                          </a:solidFill>
                          <a:latin typeface="Calibri"/>
                        </a:rPr>
                        <a:t>R/W/Delete + set ACLs (anyone)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Read the two layers together: </a:t>
            </a:r>
            <a:r>
              <a:rPr sz="1400" b="0" i="0">
                <a:solidFill>
                  <a:srgbClr val="202440"/>
                </a:solidFill>
                <a:latin typeface="Calibri"/>
              </a:rPr>
              <a:t>share-level RBAC sets the ceiling, NTFS sets the floor — a user gets the MORE restrictive of the two. "NTFS says Modify but access is denied" almost always means the RBAC role is None or missing. Changing NTFS ACLs needs </a:t>
            </a:r>
            <a:r>
              <a:rPr sz="1400" b="1" i="0">
                <a:solidFill>
                  <a:srgbClr val="202440"/>
                </a:solidFill>
                <a:latin typeface="Calibri"/>
              </a:rPr>
              <a:t>SMB Elevated Contributor</a:t>
            </a:r>
            <a:r>
              <a:rPr sz="1400" b="0" i="0">
                <a:solidFill>
                  <a:srgbClr val="202440"/>
                </a:solidFill>
                <a:latin typeface="Calibri"/>
              </a:rPr>
              <a:t> (over SMB), </a:t>
            </a:r>
            <a:r>
              <a:rPr sz="1400" b="1" i="0">
                <a:solidFill>
                  <a:srgbClr val="202440"/>
                </a:solidFill>
                <a:latin typeface="Calibri"/>
              </a:rPr>
              <a:t>Privileged Contributor</a:t>
            </a:r>
            <a:r>
              <a:rPr sz="1400" b="0" i="0">
                <a:solidFill>
                  <a:srgbClr val="202440"/>
                </a:solidFill>
                <a:latin typeface="Calibri"/>
              </a:rPr>
              <a:t> (over REST), or the storage key.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This is the table behind the NoShareAccess lab — we'll flip the RBAC column to None and watch a perfect NTFS setup go dark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CONCEPTS · MODERN GOTCHA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A sneaky error 5: SMB cipher negotiation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1463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64208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550" b="1" i="0">
                <a:solidFill>
                  <a:srgbClr val="1E2761"/>
                </a:solidFill>
                <a:latin typeface="Calibri"/>
              </a:rPr>
              <a:t>Access is denied (System error 5) — but every permission is correct. </a:t>
            </a:r>
            <a:r>
              <a:rPr sz="1450" b="0" i="0">
                <a:solidFill>
                  <a:srgbClr val="202440"/>
                </a:solidFill>
                <a:latin typeface="Calibri"/>
              </a:rPr>
              <a:t>Cipher negotiation happens in the SMB Negotiate, BEFORE the client names the storage account — so Azure Files can't pick a per-account cipher. If the account allows only AES-256-GCM and the client offers a different one first, the connection dies before auth even starts.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Detect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11880"/>
            <a:ext cx="5394960" cy="13716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storage: Portal &gt; File service &gt; Security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client: which ciphers, in what order?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Get-SmbClientConfiguration |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  select EncryptionCiphers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Fix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11880"/>
            <a:ext cx="5394960" cy="137160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put the account's cipher first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Set-SmbClientConfiguration `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  -EncryptionCiphers `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  "AES_256_GCM,AES_128_GCM,AES_128_CCM"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AES-256-GCM needs Win 11 / WS2022+. The ORDER is what matters — put the account's allowed cipher first.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THE AUTOMATION,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Meanwhile, in your subscription…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13232" y="170078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170992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Bicep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VNet (DNS → DC) · DC VM · client VM · storage + share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07992" y="170078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170992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Forest promotion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contoso.local born on the DC (this is the slow part)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55448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70078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170992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Lab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1945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labuser1 / labuser2 in OU=AzureFilesLab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6324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20954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21868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Client domain join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033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client VM restarts as a CONTOSO member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06324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07992" y="320954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3208" y="321868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Storage domain join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7033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kerb1 key → computer account password + SPN registration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06324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02752" y="320954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321868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Enable AD DS auth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70332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Set-AzStorageAccount writes domain GUID/SID metadata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57200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718304"/>
            <a:ext cx="457200" cy="457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98448" y="4727448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1E2761"/>
                </a:solidFill>
                <a:latin typeface="Calibri"/>
              </a:rPr>
              <a:t>Permissions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21208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DefaultSharePermission + NTFS ACLs for Domain Users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Steps 5–6 are exactly the "manual enablement" path from the docs — worth knowing when AzFilesHybrid can't run in your environment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MEMORIZE THESE FIVE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Your troubleshooting toolkit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1672" cy="1225295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9961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klist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99616"/>
            <a:ext cx="329184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02440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The truth about your tickets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499616"/>
            <a:ext cx="7223760" cy="1042415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D8E4FF"/>
                </a:solidFill>
                <a:latin typeface="Courier New"/>
              </a:rPr>
              <a:t>klist purge            # start clean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D8E4FF"/>
                </a:solidFill>
                <a:latin typeface="Courier New"/>
              </a:rPr>
              <a:t>klist get cifs/&lt;sa&gt;.file.core.windows.net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D8E4FF"/>
                </a:solidFill>
                <a:latin typeface="Courier New"/>
              </a:rPr>
              <a:t>klist                  # inspect etype, validity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70632"/>
            <a:ext cx="11091672" cy="786384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5292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Test-NetConnection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2928"/>
            <a:ext cx="3291840" cy="6035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02440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Layer 1 in one 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852928"/>
            <a:ext cx="7223760" cy="603503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D8E4FF"/>
                </a:solidFill>
                <a:latin typeface="Courier New"/>
              </a:rPr>
              <a:t>Test-NetConnection &lt;sa&gt;.file.core.windows.net -Port 445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85032"/>
            <a:ext cx="11091672" cy="100584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6732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Debug-AzStorageAccountAuth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6732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02440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Automated AD checks (AzFilesHybrid)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3767328"/>
            <a:ext cx="7223760" cy="82296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D8E4FF"/>
                </a:solidFill>
                <a:latin typeface="Courier New"/>
              </a:rPr>
              <a:t>Debug-AzStorageAccountAuth -StorageAccountName &lt;sa&gt; `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D8E4FF"/>
                </a:solidFill>
                <a:latin typeface="Courier New"/>
              </a:rPr>
              <a:t>  -ResourceGroupName &lt;rg&gt; -Verbose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90118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AzFileDiagnostics.ps1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01184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02440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Guided end-to-end validation incl. mount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901184"/>
            <a:ext cx="7040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1">
                <a:solidFill>
                  <a:srgbClr val="5A5A6E"/>
                </a:solidFill>
                <a:latin typeface="Calibri"/>
              </a:rPr>
              <a:t>aka.ms → AzFileDiagnostics (GitHub, Azure samples)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13832"/>
            <a:ext cx="11091672" cy="100584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9612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netsh trace / Wireshark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02440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5A6E"/>
                </a:solidFill>
                <a:latin typeface="Calibri"/>
              </a:rPr>
              <a:t>When nothing else explains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5596128"/>
            <a:ext cx="7223760" cy="82296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D8E4FF"/>
                </a:solidFill>
                <a:latin typeface="Courier New"/>
              </a:rPr>
              <a:t>netsh trace start capture=yes tracefile=c:\t.etl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D8E4FF"/>
                </a:solidFill>
                <a:latin typeface="Courier New"/>
              </a:rPr>
              <a:t># repro …  netsh trace stop  → etl2pcapng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Mount the share, meet your tickets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02440"/>
                </a:solidFill>
                <a:latin typeface="Calibri"/>
              </a:rPr>
              <a:t>RDP to the client VM as </a:t>
            </a:r>
            <a:r>
              <a:rPr sz="1400" b="1" i="0">
                <a:solidFill>
                  <a:srgbClr val="202440"/>
                </a:solidFill>
                <a:latin typeface="Courier New"/>
              </a:rPr>
              <a:t>CONTOSO\labuser1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6035040" cy="283464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# 1. clean slate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klist purge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# 2. ask the TGS for a service ticket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klist get cifs/&lt;sa&gt;.file.core.windows.net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# 3. mount — no credentials prompted!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net use Z: \\&lt;sa&gt;.file.core.windows.net\labshare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F2C14E"/>
                </a:solidFill>
                <a:latin typeface="Courier New"/>
              </a:rPr>
              <a:t># 4. inspect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klist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D8E4FF"/>
                </a:solidFill>
                <a:latin typeface="Courier New"/>
              </a:rPr>
              <a:t>echo hello &gt; Z:\%username%.txt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463040"/>
            <a:ext cx="4709160" cy="45720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16916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What to notice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148840"/>
            <a:ext cx="4206240" cy="3749039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Server:</a:t>
            </a:r>
            <a:r>
              <a:rPr sz="1350">
                <a:solidFill>
                  <a:srgbClr val="202440"/>
                </a:solidFill>
                <a:latin typeface="Calibri"/>
              </a:rPr>
              <a:t> cifs/&lt;sa&gt;.file.core.windows.net — the SPN we registered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KerbTicket etype:</a:t>
            </a:r>
            <a:r>
              <a:rPr sz="1350">
                <a:solidFill>
                  <a:srgbClr val="202440"/>
                </a:solidFill>
                <a:latin typeface="Calibri"/>
              </a:rPr>
              <a:t> AES-256 — the 2026-hardening-proof configuration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No password prompt:</a:t>
            </a:r>
            <a:r>
              <a:rPr sz="1350">
                <a:solidFill>
                  <a:srgbClr val="202440"/>
                </a:solidFill>
                <a:latin typeface="Calibri"/>
              </a:rPr>
              <a:t> your logon TGT did all the work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Baseline saved?</a:t>
            </a:r>
            <a:r>
              <a:rPr sz="1350">
                <a:solidFill>
                  <a:srgbClr val="202440"/>
                </a:solidFill>
                <a:latin typeface="Calibri"/>
              </a:rPr>
              <a:t> Screenshot your klist — every fault will be measured against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Not working for someone? Great — live troubleshooting practice. Start with Test-NetConnection -Port 445.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The #1 field issue: kerb key vs AD password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989320" cy="13716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Presenter injects: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ourier New"/>
              </a:rPr>
              <a:t>Invoke-Fault.ps1 -Fault PasswordMismatch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The AD computer-account password is rotated; the storage account still holds the old kerb1 key.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5989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You'll see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5989320" cy="141732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net use Z: \\&lt;sa&gt;.file.core.windows.net\labshare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96167"/>
                </a:solidFill>
                <a:latin typeface="Courier New"/>
              </a:rPr>
              <a:t>System error 1396 has occurred.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96167"/>
                </a:solidFill>
                <a:latin typeface="Courier New"/>
              </a:rPr>
              <a:t>Logon Failure: The target account 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96167"/>
                </a:solidFill>
                <a:latin typeface="Courier New"/>
              </a:rPr>
              <a:t>is incorrect.   (KRB5KRB_AP_ERR_MODIFIED)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463040"/>
            <a:ext cx="4709160" cy="45720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16916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Diagnose →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148840"/>
            <a:ext cx="4206240" cy="3749039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Why:</a:t>
            </a:r>
            <a:r>
              <a:rPr sz="1300">
                <a:solidFill>
                  <a:srgbClr val="202440"/>
                </a:solidFill>
                <a:latin typeface="Calibri"/>
              </a:rPr>
              <a:t> KDC issued a ticket encrypted with the NEW password; the file server can only decrypt with the OLD key. AP-REQ fails.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Confirm:</a:t>
            </a:r>
            <a:r>
              <a:rPr sz="1300">
                <a:solidFill>
                  <a:srgbClr val="202440"/>
                </a:solidFill>
                <a:latin typeface="Calibri"/>
              </a:rPr>
              <a:t> Debug-AzStorageAccountAuth → CheckADObjectPasswordIsCorrect fails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Fix (lab):</a:t>
            </a:r>
            <a:r>
              <a:rPr sz="1300">
                <a:solidFill>
                  <a:srgbClr val="202440"/>
                </a:solidFill>
                <a:latin typeface="Calibri"/>
              </a:rPr>
              <a:t> Invoke-Fault.ps1 … -Repair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Fix (prod):</a:t>
            </a:r>
            <a:r>
              <a:rPr sz="1300">
                <a:solidFill>
                  <a:srgbClr val="202440"/>
                </a:solidFill>
                <a:latin typeface="Calibri"/>
              </a:rPr>
              <a:t> Update-AzStorageAccountADObjectPassword — rotate kerb1 &amp; sync 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Root cause in the wild: password-rotation policies or admins "resetting" the computer account. Also bites when enabling AES256.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The KDC can't find the service: broken SPN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989320" cy="13716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Presenter injects: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02440"/>
                </a:solidFill>
                <a:latin typeface="Courier New"/>
              </a:rPr>
              <a:t>Invoke-Fault.ps1 -Fault SpnBroken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5A5A6E"/>
                </a:solidFill>
                <a:latin typeface="Calibri"/>
              </a:rPr>
              <a:t>The SPN on the computer account is replaced with a wrong value.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5989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You'll see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5989320" cy="155448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D8E4FF"/>
                </a:solidFill>
                <a:latin typeface="Courier New"/>
              </a:rPr>
              <a:t>klist get cifs/&lt;sa&gt;.file.core.windows.net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96167"/>
                </a:solidFill>
                <a:latin typeface="Courier New"/>
              </a:rPr>
              <a:t>klist failed with 0xc000018b: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96167"/>
                </a:solidFill>
                <a:latin typeface="Courier New"/>
              </a:rPr>
              <a:t>The SAM database … does not have a computer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96167"/>
                </a:solidFill>
                <a:latin typeface="Courier New"/>
              </a:rPr>
              <a:t>account…  (KRB5KDC_ERR_S_PRINCIPAL_UNKNOWN)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463040"/>
            <a:ext cx="4709160" cy="457200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16916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Diagnose →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148840"/>
            <a:ext cx="4206240" cy="3749039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Why:</a:t>
            </a:r>
            <a:r>
              <a:rPr sz="1300">
                <a:solidFill>
                  <a:srgbClr val="202440"/>
                </a:solidFill>
                <a:latin typeface="Calibri"/>
              </a:rPr>
              <a:t> TGS-REQ names a principal the DC has never heard of — no object owns that SPN.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Confirm:</a:t>
            </a:r>
            <a:r>
              <a:rPr sz="1300">
                <a:solidFill>
                  <a:srgbClr val="202440"/>
                </a:solidFill>
                <a:latin typeface="Calibri"/>
              </a:rPr>
              <a:t> setspn -Q cifs/&lt;sa&gt;.file.core.windows.net → nothing; Get-ADComputer &lt;sa&gt; -Properties ServicePrincipalNames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Watch for:</a:t>
            </a:r>
            <a:r>
              <a:rPr sz="1300">
                <a:solidFill>
                  <a:srgbClr val="202440"/>
                </a:solidFill>
                <a:latin typeface="Calibri"/>
              </a:rPr>
              <a:t> custom-domain setups &amp; multi-forest routing — same error, different root cause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Fix:</a:t>
            </a:r>
            <a:r>
              <a:rPr sz="1300">
                <a:solidFill>
                  <a:srgbClr val="202440"/>
                </a:solidFill>
                <a:latin typeface="Calibri"/>
              </a:rPr>
              <a:t> restore the exact SPN (…-Repair)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Multi-forest? The file share lives in ONE domain of ONE forest — everyone else needs trusts + suffix routing.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713232" cy="713232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274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96167"/>
                </a:solidFill>
                <a:latin typeface="Calibr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5486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E2761"/>
                </a:solidFill>
                <a:latin typeface="Cambria"/>
              </a:rPr>
              <a:t>Two more classics, rapid-fire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440680" cy="44805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6420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Blocked TCP 445</a:t>
            </a:r>
            <a:r>
              <a:rPr sz="1200" b="0" i="0">
                <a:solidFill>
                  <a:srgbClr val="5A5A6E"/>
                </a:solidFill>
                <a:latin typeface="Courier New"/>
              </a:rPr>
              <a:t>   -Fault Block445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4892040" cy="123444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net use Z: \\&lt;sa&gt;…\labshare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96167"/>
                </a:solidFill>
                <a:latin typeface="Courier New"/>
              </a:rPr>
              <a:t>System error 53 has occurred.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Test-NetConnection &lt;sa&gt;… -Port 445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96167"/>
                </a:solidFill>
                <a:latin typeface="Courier New"/>
              </a:rPr>
              <a:t>TcpTestSucceeded : 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11880"/>
            <a:ext cx="4892040" cy="2103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Blocked 445 shows as:</a:t>
            </a:r>
            <a:r>
              <a:rPr sz="1300">
                <a:solidFill>
                  <a:srgbClr val="202440"/>
                </a:solidFill>
                <a:latin typeface="Calibri"/>
              </a:rPr>
              <a:t> error 53 / 67 or a timeout (ISPs, firewalls, NSGs)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Error 64 is different:</a:t>
            </a:r>
            <a:r>
              <a:rPr sz="1300">
                <a:solidFill>
                  <a:srgbClr val="202440"/>
                </a:solidFill>
                <a:latin typeface="Calibri"/>
              </a:rPr>
              <a:t> TCP connects but a proxy/NAT drops the SMB handshake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Fixes:</a:t>
            </a:r>
            <a:r>
              <a:rPr sz="1300">
                <a:solidFill>
                  <a:srgbClr val="202440"/>
                </a:solidFill>
                <a:latin typeface="Calibri"/>
              </a:rPr>
              <a:t> open 445 · private endpoint · VPN/ER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440680" cy="4480560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6420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Share-level access gone</a:t>
            </a:r>
            <a:r>
              <a:rPr sz="1200" b="0" i="0">
                <a:solidFill>
                  <a:srgbClr val="5A5A6E"/>
                </a:solidFill>
                <a:latin typeface="Courier New"/>
              </a:rPr>
              <a:t>   -Fault NoShareAccess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148840"/>
            <a:ext cx="4892040" cy="123444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klist   # ticket looks PERFECT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net use Z: \\&lt;sa&gt;…\labshare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96167"/>
                </a:solidFill>
                <a:latin typeface="Courier New"/>
              </a:rPr>
              <a:t>System error 5: Access is denied.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611880"/>
            <a:ext cx="4892040" cy="2103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The lesson:</a:t>
            </a:r>
            <a:r>
              <a:rPr sz="1300">
                <a:solidFill>
                  <a:srgbClr val="202440"/>
                </a:solidFill>
                <a:latin typeface="Calibri"/>
              </a:rPr>
              <a:t> authentication ≠ authorization — layer 2 slammed shut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Check:</a:t>
            </a:r>
            <a:r>
              <a:rPr sz="1300">
                <a:solidFill>
                  <a:srgbClr val="202440"/>
                </a:solidFill>
                <a:latin typeface="Calibri"/>
              </a:rPr>
              <a:t> role assignments / DefaultSharePermission on the SA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Contrast:</a:t>
            </a:r>
            <a:r>
              <a:rPr sz="1300">
                <a:solidFill>
                  <a:srgbClr val="202440"/>
                </a:solidFill>
                <a:latin typeface="Calibri"/>
              </a:rPr>
              <a:t> NTFS deny would fail AFTER mount, on specific paths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Backup fault if we're fast: EtypeMismatch — client offers DES only → "encryption type not supported by the KDC"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The 60-second triage, from today's labs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1106424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91840"/>
                <a:gridCol w="4114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Symptom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First command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Likely layer / cause</a:t>
                      </a:r>
                    </a:p>
                  </a:txBody>
                  <a:tcPr marL="73152" marR="73152" marT="27432" marB="27432" anchor="ctr">
                    <a:solidFill>
                      <a:srgbClr val="1E276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Error 53 / 67 / timeout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Test-NetConnection -Port 445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Network: 445 blocked, DNS (64 = proxy/NAT drops the handshake)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Error 1396 / AP_ERR_MODIFIED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Debug-AzStorageAccountAuth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Kerb key ↔ AD password out of sync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0xc000018b / PRINCIPAL_UNKNOWN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setspn -Q cifs/&lt;sa&gt;…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SPN missing/wrong · multi-forest routing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"encryption type not supported"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klist (etype) + gpedit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etype mismatch — use AES-256 (RC4 retired by 2026 hardening)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Access denied, ticket valid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check RBAC + icacls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Authorization: share-level or NTFS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Mount works with key, not identity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02440"/>
                          </a:solidFill>
                          <a:latin typeface="Courier New"/>
                        </a:rPr>
                        <a:t>klist get cifs/&lt;sa&gt;…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02440"/>
                          </a:solidFill>
                          <a:latin typeface="Calibri"/>
                        </a:rPr>
                        <a:t>Kerberos config — walk the triangle again</a:t>
                      </a:r>
                    </a:p>
                  </a:txBody>
                  <a:tcPr marL="73152" marR="73152" marT="27432" marB="27432" anchor="ctr">
                    <a:solidFill>
                      <a:srgbClr val="F3F6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A5A6E"/>
                </a:solidFill>
                <a:latin typeface="Calibri"/>
              </a:rPr>
              <a:t>Escalating a real case? Collect: netsh trace of the repro + SMBClient/Kerberos event logs + storage account &amp; share name + timestamp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89920" y="-914400"/>
            <a:ext cx="2926080" cy="292608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937760"/>
            <a:ext cx="2743200" cy="2743200"/>
          </a:xfrm>
          <a:prstGeom prst="ellipse">
            <a:avLst/>
          </a:prstGeom>
          <a:solidFill>
            <a:srgbClr val="2A3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F2C14E"/>
                </a:solidFill>
                <a:latin typeface="Calibri"/>
              </a:rPr>
              <a:t>SESSION 1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You now own the AD DS triangle.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332720" cy="20116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>
                <a:solidFill>
                  <a:srgbClr val="F2C14E"/>
                </a:solidFill>
                <a:latin typeface="Calibri"/>
              </a:rPr>
              <a:t>▪  </a:t>
            </a:r>
            <a:r>
              <a:rPr b="1" sz="1600">
                <a:solidFill>
                  <a:srgbClr val="CADCFC"/>
                </a:solidFill>
                <a:latin typeface="Calibri"/>
              </a:rPr>
              <a:t>Tear down now</a:t>
            </a:r>
            <a:r>
              <a:rPr sz="1600">
                <a:solidFill>
                  <a:srgbClr val="CADCFC"/>
                </a:solidFill>
                <a:latin typeface="Calibri"/>
              </a:rPr>
              <a:t> — Remove-AzResourceGroup -Name azfiles-lab -Force. You'll redeploy before Session 2 (watch for the reminder).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>
                <a:solidFill>
                  <a:srgbClr val="F2C14E"/>
                </a:solidFill>
                <a:latin typeface="Calibri"/>
              </a:rPr>
              <a:t>▪  </a:t>
            </a:r>
            <a:r>
              <a:rPr b="1" sz="1600">
                <a:solidFill>
                  <a:srgbClr val="CADCFC"/>
                </a:solidFill>
                <a:latin typeface="Calibri"/>
              </a:rPr>
              <a:t>Homework (optional):</a:t>
            </a:r>
            <a:r>
              <a:rPr sz="1600">
                <a:solidFill>
                  <a:srgbClr val="CADCFC"/>
                </a:solidFill>
                <a:latin typeface="Calibri"/>
              </a:rPr>
              <a:t> after redeploying, run the EtypeMismatch fault yourself and read the TGS-REP in a netsh trace.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>
                <a:solidFill>
                  <a:srgbClr val="F2C14E"/>
                </a:solidFill>
                <a:latin typeface="Calibri"/>
              </a:rPr>
              <a:t>▪  </a:t>
            </a:r>
            <a:r>
              <a:rPr b="1" sz="1600">
                <a:solidFill>
                  <a:srgbClr val="CADCFC"/>
                </a:solidFill>
                <a:latin typeface="Calibri"/>
              </a:rPr>
              <a:t>Next time:</a:t>
            </a:r>
            <a:r>
              <a:rPr sz="1600">
                <a:solidFill>
                  <a:srgbClr val="CADCFC"/>
                </a:solidFill>
                <a:latin typeface="Calibri"/>
              </a:rPr>
              <a:t> the same share, zero line-of-sight to any DC — Microsoft Entra Kerberos. Bring Global Admin on a DEV tenant (least-privilege alternative: Hybrid Identity Admin + Cloud Application Admin).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Questions? Let's use the remaining minutes.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2A367E"/>
                </a:solidFill>
                <a:latin typeface="Calibri"/>
              </a:rPr>
              <a:t>KEEP 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1E2761"/>
                </a:solidFill>
                <a:latin typeface="Cambria"/>
              </a:rPr>
              <a:t>References &amp;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Microsoft 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5577840" cy="38404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Overview:</a:t>
            </a:r>
            <a:r>
              <a:rPr sz="1350">
                <a:solidFill>
                  <a:srgbClr val="202440"/>
                </a:solidFill>
                <a:latin typeface="Calibri"/>
              </a:rPr>
              <a:t> Azure Files identity-based authentication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Enable:</a:t>
            </a:r>
            <a:r>
              <a:rPr sz="1350">
                <a:solidFill>
                  <a:srgbClr val="202440"/>
                </a:solidFill>
                <a:latin typeface="Calibri"/>
              </a:rPr>
              <a:t> On-premises AD DS authentication for Azure file shares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Permissions:</a:t>
            </a:r>
            <a:r>
              <a:rPr sz="1350">
                <a:solidFill>
                  <a:srgbClr val="202440"/>
                </a:solidFill>
                <a:latin typeface="Calibri"/>
              </a:rPr>
              <a:t> Share-level (RBAC) · Directory/file-level (Windows ACLs)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Encryption:</a:t>
            </a:r>
            <a:r>
              <a:rPr sz="1350">
                <a:solidFill>
                  <a:srgbClr val="202440"/>
                </a:solidFill>
                <a:latin typeface="Calibri"/>
              </a:rPr>
              <a:t> AES-256 migration &amp; the RC4 retirement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Multi-forest:</a:t>
            </a:r>
            <a:r>
              <a:rPr sz="1350">
                <a:solidFill>
                  <a:srgbClr val="202440"/>
                </a:solidFill>
                <a:latin typeface="Calibri"/>
              </a:rPr>
              <a:t> Use Azure Files with multiple AD forests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>
                <a:solidFill>
                  <a:srgbClr val="2A367E"/>
                </a:solidFill>
                <a:latin typeface="Calibri"/>
              </a:rPr>
              <a:t>▪  </a:t>
            </a:r>
            <a:r>
              <a:rPr b="1" sz="1350">
                <a:solidFill>
                  <a:srgbClr val="202440"/>
                </a:solidFill>
                <a:latin typeface="Calibri"/>
              </a:rPr>
              <a:t>Troubleshooting:</a:t>
            </a:r>
            <a:r>
              <a:rPr sz="1350">
                <a:solidFill>
                  <a:srgbClr val="202440"/>
                </a:solidFill>
                <a:latin typeface="Calibri"/>
              </a:rPr>
              <a:t> Azure Files SMB connectivity &amp; identity-based 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4630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E2761"/>
                </a:solidFill>
                <a:latin typeface="Calibri"/>
              </a:rPr>
              <a:t>If your lab breaks beyond repair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920240"/>
            <a:ext cx="5120640" cy="2011680"/>
          </a:xfrm>
          <a:prstGeom prst="roundRect">
            <a:avLst>
              <a:gd name="adj" fmla="val 5000"/>
            </a:avLst>
          </a:prstGeom>
          <a:solidFill>
            <a:srgbClr val="161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64592" tIns="128016" bIns="10972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every fault is reversible: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.\faults\Invoke-Fault.ps1 -Fault &lt;name&gt; -Repair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2C14E"/>
                </a:solidFill>
                <a:latin typeface="Courier New"/>
              </a:rPr>
              <a:t># nuclear option - full redeploy (~20 min):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Remove-AzResourceGroup -Name azfiles-lab -Force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D8E4FF"/>
                </a:solidFill>
                <a:latin typeface="Courier New"/>
              </a:rPr>
              <a:t>.\deploy.ps1 -ResourceGroupName azfiles-lab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4160520"/>
            <a:ext cx="5120640" cy="17373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Deep diagnosis:</a:t>
            </a:r>
            <a:r>
              <a:rPr sz="1300">
                <a:solidFill>
                  <a:srgbClr val="202440"/>
                </a:solidFill>
                <a:latin typeface="Calibri"/>
              </a:rPr>
              <a:t> DC Security log Event 4769 (TGS requests) + SMBClient/Kerberos operational logs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>
                <a:solidFill>
                  <a:srgbClr val="2A367E"/>
                </a:solidFill>
                <a:latin typeface="Calibri"/>
              </a:rPr>
              <a:t>▪  </a:t>
            </a:r>
            <a:r>
              <a:rPr b="1" sz="1300">
                <a:solidFill>
                  <a:srgbClr val="202440"/>
                </a:solidFill>
                <a:latin typeface="Calibri"/>
              </a:rPr>
              <a:t>Workbook:</a:t>
            </a:r>
            <a:r>
              <a:rPr sz="1300">
                <a:solidFill>
                  <a:srgbClr val="202440"/>
                </a:solidFill>
                <a:latin typeface="Calibri"/>
              </a:rPr>
              <a:t> the error→cause map + your observation log are your take-home cheat sheet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